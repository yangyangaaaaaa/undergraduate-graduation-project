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3"/>
  </p:notesMasterIdLst>
  <p:sldIdLst>
    <p:sldId id="480" r:id="rId2"/>
    <p:sldId id="543" r:id="rId3"/>
    <p:sldId id="547" r:id="rId4"/>
    <p:sldId id="548" r:id="rId5"/>
    <p:sldId id="554" r:id="rId6"/>
    <p:sldId id="549" r:id="rId7"/>
    <p:sldId id="550" r:id="rId8"/>
    <p:sldId id="551" r:id="rId9"/>
    <p:sldId id="552" r:id="rId10"/>
    <p:sldId id="553" r:id="rId11"/>
    <p:sldId id="259" r:id="rId12"/>
  </p:sldIdLst>
  <p:sldSz cx="12192000" cy="6858000"/>
  <p:notesSz cx="6858000" cy="9144000"/>
  <p:custDataLst>
    <p:tags r:id="rId14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00" userDrawn="1">
          <p15:clr>
            <a:srgbClr val="A4A3A4"/>
          </p15:clr>
        </p15:guide>
        <p15:guide id="2" pos="375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sun jack" initials="sj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6D3E6"/>
    <a:srgbClr val="0070C0"/>
    <a:srgbClr val="7CA3C6"/>
    <a:srgbClr val="C00000"/>
    <a:srgbClr val="6F8BBE"/>
    <a:srgbClr val="FFFFFF"/>
    <a:srgbClr val="FBFCFD"/>
    <a:srgbClr val="AFC7DD"/>
    <a:srgbClr val="72727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971" autoAdjust="0"/>
    <p:restoredTop sz="96707" autoAdjust="0"/>
  </p:normalViewPr>
  <p:slideViewPr>
    <p:cSldViewPr snapToGrid="0" showGuides="1">
      <p:cViewPr varScale="1">
        <p:scale>
          <a:sx n="102" d="100"/>
          <a:sy n="102" d="100"/>
        </p:scale>
        <p:origin x="448" y="76"/>
      </p:cViewPr>
      <p:guideLst>
        <p:guide orient="horz" pos="2100"/>
        <p:guide pos="375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commentAuthors" Target="commentAuthors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gs" Target="tags/tag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75F5BD2-C27D-4F3F-95DF-498D73E9F148}" type="datetimeFigureOut">
              <a:rPr lang="zh-CN" altLang="en-US" smtClean="0"/>
              <a:t>2026/3/9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7EFFF0D-1DCA-4802-ADAD-E8DD53D69C10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EFFF0D-1DCA-4802-ADAD-E8DD53D69C10}" type="slidenum">
              <a:rPr lang="zh-CN" altLang="en-US" smtClean="0"/>
              <a:t>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EFFF0D-1DCA-4802-ADAD-E8DD53D69C10}" type="slidenum">
              <a:rPr lang="zh-CN" altLang="en-US" smtClean="0"/>
              <a:t>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1F6F67-9A15-D4FB-5520-0C811986EE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A13DA61-C1CB-D4F3-933A-D9B69BACE8A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FB5D2D39-ED6D-51CE-6583-F3D212547B1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111CB54-604B-F962-929A-0CEFBD9D38D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EFFF0D-1DCA-4802-ADAD-E8DD53D69C10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9361739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EF5901-13D5-60CD-2E2B-B4F90B89A6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BC194D1-474C-6D62-0904-A15ED2AB09C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C35CFF2B-1AC7-F4EA-55B1-2FFB1C5F786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A5E6F18-B7C4-6936-9DE7-AD004CFEB10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EFFF0D-1DCA-4802-ADAD-E8DD53D69C10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3777452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7D01A7-977E-4AF9-BF7C-4528A77F2E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82160995-A787-1EB6-BB06-63E1C7E22D0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1A7E2D60-9F3A-A24D-47C1-FD0C20A0CBF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3EBAEC1-A666-C473-095F-470276FE844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EFFF0D-1DCA-4802-ADAD-E8DD53D69C10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1597986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95E26B-F399-AD12-D78D-FEF8C9826C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C6017D07-F50B-9EA7-AFB9-B6A9C8F1AED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A36B01AE-92D2-9DAE-02E1-61136FA1EDE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2EFF87B-3BDE-F581-981A-C854278ECCF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EFFF0D-1DCA-4802-ADAD-E8DD53D69C10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1985252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C3A48A-9CB7-DB3D-5A95-EA95B4B86A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24783103-47D0-5347-CEF0-8D9536E8EF6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9F73B743-3C0D-1BF7-49CB-C1C3CCB723D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7147B0D-EA0D-847B-1835-001330C063B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EFFF0D-1DCA-4802-ADAD-E8DD53D69C10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7993984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FDA687-B5A7-1C24-17B4-8EE06A85DF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D5B04634-B12A-7F4B-F760-A97975FCC3A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36DFEA9F-870A-40F9-AF28-B4028E92A6E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71C6BA4-7CC0-79FA-618E-4A6881BB7EF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EFFF0D-1DCA-4802-ADAD-E8DD53D69C10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8380870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737D64-5B78-F5B0-C335-4EAA0197FA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82598FFC-4362-7379-6EF9-1B4779A6BE7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C3C3058F-A4F9-42CD-37C1-9EBE9CEEC6F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F79D7FA-0FB1-A7C8-98F9-9B977864E0C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EFFF0D-1DCA-4802-ADAD-E8DD53D69C10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6257264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9BC382-96E4-DF63-A760-D2FE1D9FC3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B7415E10-71DC-095E-03F4-06F1D3EC62A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15F961BA-A6E0-2C40-4BD7-C202ADB831F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CA332B4-B689-75C2-9290-1C4623A8BA4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EFFF0D-1DCA-4802-ADAD-E8DD53D69C10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9027419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EFFF0D-1DCA-4802-ADAD-E8DD53D69C10}" type="slidenum">
              <a:rPr lang="zh-CN" altLang="en-US" smtClean="0"/>
              <a:t>11</a:t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B54AB0-D4A0-4A2F-8CCB-B10D0CDEE3A6}" type="datetimeFigureOut">
              <a:rPr lang="zh-CN" altLang="en-US" smtClean="0"/>
              <a:t>2026/3/9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930493-C828-4274-AE4B-A249225A4B3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B54AB0-D4A0-4A2F-8CCB-B10D0CDEE3A6}" type="datetimeFigureOut">
              <a:rPr lang="zh-CN" altLang="en-US" smtClean="0"/>
              <a:t>2026/3/9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930493-C828-4274-AE4B-A249225A4B3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B54AB0-D4A0-4A2F-8CCB-B10D0CDEE3A6}" type="datetimeFigureOut">
              <a:rPr lang="zh-CN" altLang="en-US" smtClean="0"/>
              <a:t>2026/3/9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930493-C828-4274-AE4B-A249225A4B3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B54AB0-D4A0-4A2F-8CCB-B10D0CDEE3A6}" type="datetimeFigureOut">
              <a:rPr lang="zh-CN" altLang="en-US" smtClean="0"/>
              <a:t>2026/3/9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930493-C828-4274-AE4B-A249225A4B3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B54AB0-D4A0-4A2F-8CCB-B10D0CDEE3A6}" type="datetimeFigureOut">
              <a:rPr lang="zh-CN" altLang="en-US" smtClean="0"/>
              <a:t>2026/3/9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930493-C828-4274-AE4B-A249225A4B3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B54AB0-D4A0-4A2F-8CCB-B10D0CDEE3A6}" type="datetimeFigureOut">
              <a:rPr lang="zh-CN" altLang="en-US" smtClean="0"/>
              <a:t>2026/3/9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930493-C828-4274-AE4B-A249225A4B3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B54AB0-D4A0-4A2F-8CCB-B10D0CDEE3A6}" type="datetimeFigureOut">
              <a:rPr lang="zh-CN" altLang="en-US" smtClean="0"/>
              <a:t>2026/3/9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930493-C828-4274-AE4B-A249225A4B3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B54AB0-D4A0-4A2F-8CCB-B10D0CDEE3A6}" type="datetimeFigureOut">
              <a:rPr lang="zh-CN" altLang="en-US" smtClean="0"/>
              <a:t>2026/3/9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930493-C828-4274-AE4B-A249225A4B3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B54AB0-D4A0-4A2F-8CCB-B10D0CDEE3A6}" type="datetimeFigureOut">
              <a:rPr lang="zh-CN" altLang="en-US" smtClean="0"/>
              <a:t>2026/3/9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930493-C828-4274-AE4B-A249225A4B3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B54AB0-D4A0-4A2F-8CCB-B10D0CDEE3A6}" type="datetimeFigureOut">
              <a:rPr lang="zh-CN" altLang="en-US" smtClean="0"/>
              <a:t>2026/3/9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930493-C828-4274-AE4B-A249225A4B3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B54AB0-D4A0-4A2F-8CCB-B10D0CDEE3A6}" type="datetimeFigureOut">
              <a:rPr lang="zh-CN" altLang="en-US" smtClean="0"/>
              <a:t>2026/3/9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930493-C828-4274-AE4B-A249225A4B3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0B54AB0-D4A0-4A2F-8CCB-B10D0CDEE3A6}" type="datetimeFigureOut">
              <a:rPr lang="zh-CN" altLang="en-US" smtClean="0"/>
              <a:t>2026/3/9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F930493-C828-4274-AE4B-A249225A4B3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.bin"/><Relationship Id="rId13" Type="http://schemas.microsoft.com/office/2007/relationships/hdphoto" Target="../media/hdphoto1.wdp"/><Relationship Id="rId3" Type="http://schemas.openxmlformats.org/officeDocument/2006/relationships/image" Target="../media/image14.png"/><Relationship Id="rId7" Type="http://schemas.openxmlformats.org/officeDocument/2006/relationships/image" Target="../media/image15.png"/><Relationship Id="rId12" Type="http://schemas.openxmlformats.org/officeDocument/2006/relationships/image" Target="../media/image1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0.png"/><Relationship Id="rId11" Type="http://schemas.openxmlformats.org/officeDocument/2006/relationships/image" Target="../media/image17.png"/><Relationship Id="rId5" Type="http://schemas.openxmlformats.org/officeDocument/2006/relationships/image" Target="../media/image130.png"/><Relationship Id="rId10" Type="http://schemas.openxmlformats.org/officeDocument/2006/relationships/image" Target="../media/image16.png"/><Relationship Id="rId4" Type="http://schemas.openxmlformats.org/officeDocument/2006/relationships/image" Target="../media/image2.png"/><Relationship Id="rId9" Type="http://schemas.openxmlformats.org/officeDocument/2006/relationships/image" Target="../media/image15.emf"/><Relationship Id="rId14" Type="http://schemas.openxmlformats.org/officeDocument/2006/relationships/image" Target="../media/image2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1.png"/><Relationship Id="rId4" Type="http://schemas.openxmlformats.org/officeDocument/2006/relationships/image" Target="../media/image1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3.png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1.png"/><Relationship Id="rId4" Type="http://schemas.openxmlformats.org/officeDocument/2006/relationships/image" Target="../media/image1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矩形 24"/>
          <p:cNvSpPr/>
          <p:nvPr/>
        </p:nvSpPr>
        <p:spPr>
          <a:xfrm>
            <a:off x="0" y="155115"/>
            <a:ext cx="1655328" cy="257314"/>
          </a:xfrm>
          <a:prstGeom prst="rect">
            <a:avLst/>
          </a:prstGeom>
          <a:solidFill>
            <a:srgbClr val="6F8BB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6" name="矩形 15"/>
          <p:cNvSpPr/>
          <p:nvPr/>
        </p:nvSpPr>
        <p:spPr>
          <a:xfrm flipV="1">
            <a:off x="300250" y="3532451"/>
            <a:ext cx="6673755" cy="4571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7" name="平行四边形 16"/>
          <p:cNvSpPr/>
          <p:nvPr/>
        </p:nvSpPr>
        <p:spPr>
          <a:xfrm>
            <a:off x="7113896" y="3429000"/>
            <a:ext cx="99060" cy="182880"/>
          </a:xfrm>
          <a:prstGeom prst="parallelogram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8" name="平行四边形 17"/>
          <p:cNvSpPr/>
          <p:nvPr/>
        </p:nvSpPr>
        <p:spPr>
          <a:xfrm>
            <a:off x="7307240" y="3429001"/>
            <a:ext cx="99060" cy="182880"/>
          </a:xfrm>
          <a:prstGeom prst="parallelogram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300250" y="1499030"/>
            <a:ext cx="6431739" cy="16560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3600" b="1" dirty="0">
                <a:solidFill>
                  <a:schemeClr val="accent1">
                    <a:lumMod val="75000"/>
                  </a:schemeClr>
                </a:solidFill>
                <a:cs typeface="+mn-ea"/>
                <a:sym typeface="+mn-lt"/>
              </a:rPr>
              <a:t>好奇心驱动的无人机主动定位目标导航方法</a:t>
            </a: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265" t="9160" r="23350"/>
          <a:stretch>
            <a:fillRect/>
          </a:stretch>
        </p:blipFill>
        <p:spPr>
          <a:xfrm>
            <a:off x="8839200" y="83757"/>
            <a:ext cx="3421380" cy="6720450"/>
          </a:xfrm>
          <a:prstGeom prst="rect">
            <a:avLst/>
          </a:prstGeom>
        </p:spPr>
      </p:pic>
      <p:sp>
        <p:nvSpPr>
          <p:cNvPr id="21" name="矩形 20"/>
          <p:cNvSpPr/>
          <p:nvPr/>
        </p:nvSpPr>
        <p:spPr>
          <a:xfrm>
            <a:off x="0" y="1614"/>
            <a:ext cx="12192000" cy="164287"/>
          </a:xfrm>
          <a:prstGeom prst="rect">
            <a:avLst/>
          </a:prstGeom>
          <a:solidFill>
            <a:srgbClr val="6F8BB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142816" y="65238"/>
            <a:ext cx="20955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bg1"/>
                </a:solidFill>
                <a:cs typeface="+mn-ea"/>
                <a:sym typeface="+mn-lt"/>
              </a:rPr>
              <a:t>Presentation</a:t>
            </a:r>
            <a:endParaRPr lang="zh-CN" altLang="en-US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26" name="矩形 25"/>
          <p:cNvSpPr/>
          <p:nvPr/>
        </p:nvSpPr>
        <p:spPr>
          <a:xfrm>
            <a:off x="0" y="6697897"/>
            <a:ext cx="12192000" cy="164287"/>
          </a:xfrm>
          <a:prstGeom prst="rect">
            <a:avLst/>
          </a:prstGeom>
          <a:solidFill>
            <a:srgbClr val="6F8BB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3" name="文本框 22"/>
          <p:cNvSpPr txBox="1"/>
          <p:nvPr>
            <p:custDataLst>
              <p:tags r:id="rId1"/>
            </p:custDataLst>
          </p:nvPr>
        </p:nvSpPr>
        <p:spPr>
          <a:xfrm>
            <a:off x="4794914" y="4791539"/>
            <a:ext cx="2611386" cy="11348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2400" b="1" dirty="0">
                <a:solidFill>
                  <a:srgbClr val="0070C0"/>
                </a:solidFill>
                <a:cs typeface="+mn-ea"/>
                <a:sym typeface="+mn-lt"/>
              </a:rPr>
              <a:t>汇报人：张洋</a:t>
            </a:r>
            <a:br>
              <a:rPr lang="zh-CN" altLang="en-US" sz="2400" b="1" dirty="0">
                <a:solidFill>
                  <a:srgbClr val="0070C0"/>
                </a:solidFill>
                <a:cs typeface="+mn-ea"/>
                <a:sym typeface="+mn-lt"/>
              </a:rPr>
            </a:br>
            <a:r>
              <a:rPr lang="zh-CN" altLang="en-US" sz="2400" b="1" dirty="0">
                <a:solidFill>
                  <a:srgbClr val="0070C0"/>
                </a:solidFill>
                <a:cs typeface="+mn-ea"/>
                <a:sym typeface="+mn-lt"/>
              </a:rPr>
              <a:t>日期：</a:t>
            </a:r>
            <a:r>
              <a:rPr lang="en-US" altLang="zh-CN" sz="2400" b="1" dirty="0">
                <a:solidFill>
                  <a:srgbClr val="0070C0"/>
                </a:solidFill>
                <a:cs typeface="+mn-ea"/>
                <a:sym typeface="+mn-lt"/>
              </a:rPr>
              <a:t>2026.03.09</a:t>
            </a:r>
            <a:endParaRPr lang="zh-CN" altLang="en-US" sz="2400" b="1" dirty="0">
              <a:solidFill>
                <a:srgbClr val="0070C0"/>
              </a:solidFill>
              <a:cs typeface="+mn-ea"/>
              <a:sym typeface="+mn-l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矩形 15"/>
          <p:cNvSpPr/>
          <p:nvPr/>
        </p:nvSpPr>
        <p:spPr>
          <a:xfrm>
            <a:off x="0" y="155115"/>
            <a:ext cx="1655328" cy="257314"/>
          </a:xfrm>
          <a:prstGeom prst="rect">
            <a:avLst/>
          </a:prstGeom>
          <a:solidFill>
            <a:srgbClr val="6F8BB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0" y="1614"/>
            <a:ext cx="12192000" cy="164287"/>
          </a:xfrm>
          <a:prstGeom prst="rect">
            <a:avLst/>
          </a:prstGeom>
          <a:solidFill>
            <a:srgbClr val="6F8BB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142816" y="65238"/>
            <a:ext cx="20955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bg1"/>
                </a:solidFill>
                <a:cs typeface="+mn-ea"/>
                <a:sym typeface="+mn-lt"/>
              </a:rPr>
              <a:t>Presentation</a:t>
            </a:r>
            <a:endParaRPr lang="zh-CN" altLang="en-US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9917" y="617901"/>
            <a:ext cx="915835" cy="867277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600330" y="759151"/>
            <a:ext cx="375008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dirty="0">
                <a:solidFill>
                  <a:schemeClr val="accent1">
                    <a:lumMod val="75000"/>
                  </a:schemeClr>
                </a:solidFill>
                <a:cs typeface="+mn-ea"/>
                <a:sym typeface="+mn-lt"/>
              </a:rPr>
              <a:t>1</a:t>
            </a:r>
            <a:endParaRPr lang="zh-CN" altLang="en-US" sz="3200" dirty="0">
              <a:solidFill>
                <a:schemeClr val="accent1">
                  <a:lumMod val="7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1655328" y="793828"/>
            <a:ext cx="2330156" cy="583565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rgbClr val="0070C0"/>
                </a:solidFill>
                <a:cs typeface="+mn-ea"/>
                <a:sym typeface="+mn-lt"/>
              </a:rPr>
              <a:t>选题背景</a:t>
            </a:r>
            <a:endParaRPr lang="en-US" altLang="zh-CN" sz="3200" b="1" dirty="0">
              <a:solidFill>
                <a:srgbClr val="0070C0"/>
              </a:solidFill>
              <a:cs typeface="+mn-ea"/>
              <a:sym typeface="+mn-lt"/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0" y="6693452"/>
            <a:ext cx="12192000" cy="164287"/>
          </a:xfrm>
          <a:prstGeom prst="rect">
            <a:avLst/>
          </a:prstGeom>
          <a:solidFill>
            <a:srgbClr val="6F8BB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grpSp>
        <p:nvGrpSpPr>
          <p:cNvPr id="30" name="组合 29">
            <a:extLst>
              <a:ext uri="{FF2B5EF4-FFF2-40B4-BE49-F238E27FC236}">
                <a16:creationId xmlns:a16="http://schemas.microsoft.com/office/drawing/2014/main" id="{595EDEAA-D575-9B57-3EF9-E69A91DF6D96}"/>
              </a:ext>
            </a:extLst>
          </p:cNvPr>
          <p:cNvGrpSpPr/>
          <p:nvPr/>
        </p:nvGrpSpPr>
        <p:grpSpPr>
          <a:xfrm>
            <a:off x="329917" y="1678737"/>
            <a:ext cx="3738845" cy="4713371"/>
            <a:chOff x="4362937" y="1406271"/>
            <a:chExt cx="1757515" cy="1810774"/>
          </a:xfrm>
        </p:grpSpPr>
        <p:sp>
          <p:nvSpPr>
            <p:cNvPr id="31" name="任意多边形 45">
              <a:extLst>
                <a:ext uri="{FF2B5EF4-FFF2-40B4-BE49-F238E27FC236}">
                  <a16:creationId xmlns:a16="http://schemas.microsoft.com/office/drawing/2014/main" id="{5D7F17BB-BD8D-9BD3-4B0E-1B30C3BB7FAF}"/>
                </a:ext>
              </a:extLst>
            </p:cNvPr>
            <p:cNvSpPr/>
            <p:nvPr/>
          </p:nvSpPr>
          <p:spPr>
            <a:xfrm>
              <a:off x="4362937" y="1621290"/>
              <a:ext cx="1757515" cy="1595755"/>
            </a:xfrm>
            <a:custGeom>
              <a:avLst/>
              <a:gdLst>
                <a:gd name="connsiteX0" fmla="*/ 0 w 1905098"/>
                <a:gd name="connsiteY0" fmla="*/ 157131 h 1571307"/>
                <a:gd name="connsiteX1" fmla="*/ 157131 w 1905098"/>
                <a:gd name="connsiteY1" fmla="*/ 0 h 1571307"/>
                <a:gd name="connsiteX2" fmla="*/ 1747967 w 1905098"/>
                <a:gd name="connsiteY2" fmla="*/ 0 h 1571307"/>
                <a:gd name="connsiteX3" fmla="*/ 1905098 w 1905098"/>
                <a:gd name="connsiteY3" fmla="*/ 157131 h 1571307"/>
                <a:gd name="connsiteX4" fmla="*/ 1905098 w 1905098"/>
                <a:gd name="connsiteY4" fmla="*/ 1414176 h 1571307"/>
                <a:gd name="connsiteX5" fmla="*/ 1747967 w 1905098"/>
                <a:gd name="connsiteY5" fmla="*/ 1571307 h 1571307"/>
                <a:gd name="connsiteX6" fmla="*/ 157131 w 1905098"/>
                <a:gd name="connsiteY6" fmla="*/ 1571307 h 1571307"/>
                <a:gd name="connsiteX7" fmla="*/ 0 w 1905098"/>
                <a:gd name="connsiteY7" fmla="*/ 1414176 h 1571307"/>
                <a:gd name="connsiteX8" fmla="*/ 0 w 1905098"/>
                <a:gd name="connsiteY8" fmla="*/ 157131 h 1571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905098" h="1571307">
                  <a:moveTo>
                    <a:pt x="0" y="157131"/>
                  </a:moveTo>
                  <a:cubicBezTo>
                    <a:pt x="0" y="70350"/>
                    <a:pt x="70350" y="0"/>
                    <a:pt x="157131" y="0"/>
                  </a:cubicBezTo>
                  <a:lnTo>
                    <a:pt x="1747967" y="0"/>
                  </a:lnTo>
                  <a:cubicBezTo>
                    <a:pt x="1834748" y="0"/>
                    <a:pt x="1905098" y="70350"/>
                    <a:pt x="1905098" y="157131"/>
                  </a:cubicBezTo>
                  <a:lnTo>
                    <a:pt x="1905098" y="1414176"/>
                  </a:lnTo>
                  <a:cubicBezTo>
                    <a:pt x="1905098" y="1500957"/>
                    <a:pt x="1834748" y="1571307"/>
                    <a:pt x="1747967" y="1571307"/>
                  </a:cubicBezTo>
                  <a:lnTo>
                    <a:pt x="157131" y="1571307"/>
                  </a:lnTo>
                  <a:cubicBezTo>
                    <a:pt x="70350" y="1571307"/>
                    <a:pt x="0" y="1500957"/>
                    <a:pt x="0" y="1414176"/>
                  </a:cubicBezTo>
                  <a:lnTo>
                    <a:pt x="0" y="157131"/>
                  </a:lnTo>
                  <a:close/>
                </a:path>
              </a:pathLst>
            </a:cu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alpha val="9000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97120" tIns="97120" rIns="97120" bIns="433829" numCol="1" spcCol="1270" anchor="b" anchorCtr="0">
              <a:noAutofit/>
            </a:bodyPr>
            <a:lstStyle/>
            <a:p>
              <a:pPr marL="286166" lvl="1" indent="-286166" defTabSz="1422364">
                <a:lnSpc>
                  <a:spcPct val="15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endParaRPr lang="en-US" altLang="zh-CN" sz="1000" dirty="0">
                <a:latin typeface="+mn-ea"/>
              </a:endParaRPr>
            </a:p>
          </p:txBody>
        </p:sp>
        <p:sp>
          <p:nvSpPr>
            <p:cNvPr id="32" name="任意多边形 46">
              <a:extLst>
                <a:ext uri="{FF2B5EF4-FFF2-40B4-BE49-F238E27FC236}">
                  <a16:creationId xmlns:a16="http://schemas.microsoft.com/office/drawing/2014/main" id="{300E3696-3013-EC85-4784-39F44727EAB7}"/>
                </a:ext>
              </a:extLst>
            </p:cNvPr>
            <p:cNvSpPr/>
            <p:nvPr/>
          </p:nvSpPr>
          <p:spPr>
            <a:xfrm>
              <a:off x="4553306" y="1406271"/>
              <a:ext cx="1336944" cy="261792"/>
            </a:xfrm>
            <a:custGeom>
              <a:avLst/>
              <a:gdLst>
                <a:gd name="connsiteX0" fmla="*/ 0 w 1693420"/>
                <a:gd name="connsiteY0" fmla="*/ 67342 h 673417"/>
                <a:gd name="connsiteX1" fmla="*/ 67342 w 1693420"/>
                <a:gd name="connsiteY1" fmla="*/ 0 h 673417"/>
                <a:gd name="connsiteX2" fmla="*/ 1626078 w 1693420"/>
                <a:gd name="connsiteY2" fmla="*/ 0 h 673417"/>
                <a:gd name="connsiteX3" fmla="*/ 1693420 w 1693420"/>
                <a:gd name="connsiteY3" fmla="*/ 67342 h 673417"/>
                <a:gd name="connsiteX4" fmla="*/ 1693420 w 1693420"/>
                <a:gd name="connsiteY4" fmla="*/ 606075 h 673417"/>
                <a:gd name="connsiteX5" fmla="*/ 1626078 w 1693420"/>
                <a:gd name="connsiteY5" fmla="*/ 673417 h 673417"/>
                <a:gd name="connsiteX6" fmla="*/ 67342 w 1693420"/>
                <a:gd name="connsiteY6" fmla="*/ 673417 h 673417"/>
                <a:gd name="connsiteX7" fmla="*/ 0 w 1693420"/>
                <a:gd name="connsiteY7" fmla="*/ 606075 h 673417"/>
                <a:gd name="connsiteX8" fmla="*/ 0 w 1693420"/>
                <a:gd name="connsiteY8" fmla="*/ 67342 h 673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93420" h="673417">
                  <a:moveTo>
                    <a:pt x="0" y="67342"/>
                  </a:moveTo>
                  <a:cubicBezTo>
                    <a:pt x="0" y="30150"/>
                    <a:pt x="30150" y="0"/>
                    <a:pt x="67342" y="0"/>
                  </a:cubicBezTo>
                  <a:lnTo>
                    <a:pt x="1626078" y="0"/>
                  </a:lnTo>
                  <a:cubicBezTo>
                    <a:pt x="1663270" y="0"/>
                    <a:pt x="1693420" y="30150"/>
                    <a:pt x="1693420" y="67342"/>
                  </a:cubicBezTo>
                  <a:lnTo>
                    <a:pt x="1693420" y="606075"/>
                  </a:lnTo>
                  <a:cubicBezTo>
                    <a:pt x="1693420" y="643267"/>
                    <a:pt x="1663270" y="673417"/>
                    <a:pt x="1626078" y="673417"/>
                  </a:cubicBezTo>
                  <a:lnTo>
                    <a:pt x="67342" y="673417"/>
                  </a:lnTo>
                  <a:cubicBezTo>
                    <a:pt x="30150" y="673417"/>
                    <a:pt x="0" y="643267"/>
                    <a:pt x="0" y="606075"/>
                  </a:cubicBezTo>
                  <a:lnTo>
                    <a:pt x="0" y="67342"/>
                  </a:lnTo>
                  <a:close/>
                </a:path>
              </a:pathLst>
            </a:custGeom>
            <a:solidFill>
              <a:srgbClr val="6F8BBE"/>
            </a:solidFill>
            <a:ln w="25400">
              <a:solidFill>
                <a:schemeClr val="bg1"/>
              </a:solidFill>
            </a:ln>
            <a:effectLst>
              <a:outerShdw blurRad="63500" dist="508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latinLnBrk="1"/>
              <a:r>
                <a:rPr lang="zh-CN" altLang="en-US" b="1" dirty="0">
                  <a:solidFill>
                    <a:srgbClr val="FFFFFF"/>
                  </a:solidFill>
                  <a:latin typeface="+mn-ea"/>
                </a:rPr>
                <a:t>核心任务</a:t>
              </a:r>
              <a:endParaRPr lang="en-US" altLang="zh-CN" b="1" dirty="0">
                <a:solidFill>
                  <a:srgbClr val="FFFFFF"/>
                </a:solidFill>
                <a:latin typeface="+mn-ea"/>
              </a:endParaRPr>
            </a:p>
          </p:txBody>
        </p:sp>
        <p:sp>
          <p:nvSpPr>
            <p:cNvPr id="33" name="矩形 32">
              <a:extLst>
                <a:ext uri="{FF2B5EF4-FFF2-40B4-BE49-F238E27FC236}">
                  <a16:creationId xmlns:a16="http://schemas.microsoft.com/office/drawing/2014/main" id="{6D2C2E9C-D9B1-1939-6587-63C20AE6FA8B}"/>
                </a:ext>
              </a:extLst>
            </p:cNvPr>
            <p:cNvSpPr/>
            <p:nvPr/>
          </p:nvSpPr>
          <p:spPr>
            <a:xfrm>
              <a:off x="4434386" y="2719254"/>
              <a:ext cx="1614616" cy="44443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lvl="1" algn="ctr" defTabSz="1422364">
                <a:lnSpc>
                  <a:spcPct val="150000"/>
                </a:lnSpc>
                <a:spcBef>
                  <a:spcPct val="0"/>
                </a:spcBef>
                <a:spcAft>
                  <a:spcPct val="15000"/>
                </a:spcAft>
              </a:pPr>
              <a:r>
                <a:rPr lang="zh-CN" altLang="en-US" sz="1600" b="1" dirty="0"/>
                <a:t>低空无人机在预定义搜索区域内，通过自主移动和观测实现对特定目标的精准定位</a:t>
              </a:r>
              <a:endParaRPr lang="zh-CN" altLang="en-US" sz="1600" b="1" i="0" dirty="0">
                <a:solidFill>
                  <a:srgbClr val="24292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38" name="组合 37">
            <a:extLst>
              <a:ext uri="{FF2B5EF4-FFF2-40B4-BE49-F238E27FC236}">
                <a16:creationId xmlns:a16="http://schemas.microsoft.com/office/drawing/2014/main" id="{ADD98E4F-0433-0F18-30A8-2D3CB58E0ADF}"/>
              </a:ext>
            </a:extLst>
          </p:cNvPr>
          <p:cNvGrpSpPr/>
          <p:nvPr/>
        </p:nvGrpSpPr>
        <p:grpSpPr>
          <a:xfrm>
            <a:off x="4195043" y="1685552"/>
            <a:ext cx="3738845" cy="4706555"/>
            <a:chOff x="4362937" y="1406271"/>
            <a:chExt cx="1757515" cy="1728160"/>
          </a:xfrm>
        </p:grpSpPr>
        <p:sp>
          <p:nvSpPr>
            <p:cNvPr id="39" name="任意多边形 45">
              <a:extLst>
                <a:ext uri="{FF2B5EF4-FFF2-40B4-BE49-F238E27FC236}">
                  <a16:creationId xmlns:a16="http://schemas.microsoft.com/office/drawing/2014/main" id="{2FA1D140-662A-8A32-D77D-2A7E8E0F9A66}"/>
                </a:ext>
              </a:extLst>
            </p:cNvPr>
            <p:cNvSpPr/>
            <p:nvPr/>
          </p:nvSpPr>
          <p:spPr>
            <a:xfrm>
              <a:off x="4362937" y="1621290"/>
              <a:ext cx="1757515" cy="1513141"/>
            </a:xfrm>
            <a:custGeom>
              <a:avLst/>
              <a:gdLst>
                <a:gd name="connsiteX0" fmla="*/ 0 w 1905098"/>
                <a:gd name="connsiteY0" fmla="*/ 157131 h 1571307"/>
                <a:gd name="connsiteX1" fmla="*/ 157131 w 1905098"/>
                <a:gd name="connsiteY1" fmla="*/ 0 h 1571307"/>
                <a:gd name="connsiteX2" fmla="*/ 1747967 w 1905098"/>
                <a:gd name="connsiteY2" fmla="*/ 0 h 1571307"/>
                <a:gd name="connsiteX3" fmla="*/ 1905098 w 1905098"/>
                <a:gd name="connsiteY3" fmla="*/ 157131 h 1571307"/>
                <a:gd name="connsiteX4" fmla="*/ 1905098 w 1905098"/>
                <a:gd name="connsiteY4" fmla="*/ 1414176 h 1571307"/>
                <a:gd name="connsiteX5" fmla="*/ 1747967 w 1905098"/>
                <a:gd name="connsiteY5" fmla="*/ 1571307 h 1571307"/>
                <a:gd name="connsiteX6" fmla="*/ 157131 w 1905098"/>
                <a:gd name="connsiteY6" fmla="*/ 1571307 h 1571307"/>
                <a:gd name="connsiteX7" fmla="*/ 0 w 1905098"/>
                <a:gd name="connsiteY7" fmla="*/ 1414176 h 1571307"/>
                <a:gd name="connsiteX8" fmla="*/ 0 w 1905098"/>
                <a:gd name="connsiteY8" fmla="*/ 157131 h 1571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905098" h="1571307">
                  <a:moveTo>
                    <a:pt x="0" y="157131"/>
                  </a:moveTo>
                  <a:cubicBezTo>
                    <a:pt x="0" y="70350"/>
                    <a:pt x="70350" y="0"/>
                    <a:pt x="157131" y="0"/>
                  </a:cubicBezTo>
                  <a:lnTo>
                    <a:pt x="1747967" y="0"/>
                  </a:lnTo>
                  <a:cubicBezTo>
                    <a:pt x="1834748" y="0"/>
                    <a:pt x="1905098" y="70350"/>
                    <a:pt x="1905098" y="157131"/>
                  </a:cubicBezTo>
                  <a:lnTo>
                    <a:pt x="1905098" y="1414176"/>
                  </a:lnTo>
                  <a:cubicBezTo>
                    <a:pt x="1905098" y="1500957"/>
                    <a:pt x="1834748" y="1571307"/>
                    <a:pt x="1747967" y="1571307"/>
                  </a:cubicBezTo>
                  <a:lnTo>
                    <a:pt x="157131" y="1571307"/>
                  </a:lnTo>
                  <a:cubicBezTo>
                    <a:pt x="70350" y="1571307"/>
                    <a:pt x="0" y="1500957"/>
                    <a:pt x="0" y="1414176"/>
                  </a:cubicBezTo>
                  <a:lnTo>
                    <a:pt x="0" y="157131"/>
                  </a:lnTo>
                  <a:close/>
                </a:path>
              </a:pathLst>
            </a:cu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alpha val="9000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97120" tIns="97120" rIns="97120" bIns="433829" numCol="1" spcCol="1270" anchor="b" anchorCtr="0">
              <a:noAutofit/>
            </a:bodyPr>
            <a:lstStyle/>
            <a:p>
              <a:pPr marL="286166" lvl="1" indent="-286166" defTabSz="1422364">
                <a:lnSpc>
                  <a:spcPct val="15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endParaRPr lang="en-US" altLang="zh-CN" sz="1000" dirty="0">
                <a:latin typeface="+mn-ea"/>
              </a:endParaRPr>
            </a:p>
          </p:txBody>
        </p:sp>
        <p:sp>
          <p:nvSpPr>
            <p:cNvPr id="40" name="任意多边形 46">
              <a:extLst>
                <a:ext uri="{FF2B5EF4-FFF2-40B4-BE49-F238E27FC236}">
                  <a16:creationId xmlns:a16="http://schemas.microsoft.com/office/drawing/2014/main" id="{941F6949-89F1-0061-C269-17D701510B09}"/>
                </a:ext>
              </a:extLst>
            </p:cNvPr>
            <p:cNvSpPr/>
            <p:nvPr/>
          </p:nvSpPr>
          <p:spPr>
            <a:xfrm>
              <a:off x="4553306" y="1406271"/>
              <a:ext cx="1336944" cy="261792"/>
            </a:xfrm>
            <a:custGeom>
              <a:avLst/>
              <a:gdLst>
                <a:gd name="connsiteX0" fmla="*/ 0 w 1693420"/>
                <a:gd name="connsiteY0" fmla="*/ 67342 h 673417"/>
                <a:gd name="connsiteX1" fmla="*/ 67342 w 1693420"/>
                <a:gd name="connsiteY1" fmla="*/ 0 h 673417"/>
                <a:gd name="connsiteX2" fmla="*/ 1626078 w 1693420"/>
                <a:gd name="connsiteY2" fmla="*/ 0 h 673417"/>
                <a:gd name="connsiteX3" fmla="*/ 1693420 w 1693420"/>
                <a:gd name="connsiteY3" fmla="*/ 67342 h 673417"/>
                <a:gd name="connsiteX4" fmla="*/ 1693420 w 1693420"/>
                <a:gd name="connsiteY4" fmla="*/ 606075 h 673417"/>
                <a:gd name="connsiteX5" fmla="*/ 1626078 w 1693420"/>
                <a:gd name="connsiteY5" fmla="*/ 673417 h 673417"/>
                <a:gd name="connsiteX6" fmla="*/ 67342 w 1693420"/>
                <a:gd name="connsiteY6" fmla="*/ 673417 h 673417"/>
                <a:gd name="connsiteX7" fmla="*/ 0 w 1693420"/>
                <a:gd name="connsiteY7" fmla="*/ 606075 h 673417"/>
                <a:gd name="connsiteX8" fmla="*/ 0 w 1693420"/>
                <a:gd name="connsiteY8" fmla="*/ 67342 h 673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93420" h="673417">
                  <a:moveTo>
                    <a:pt x="0" y="67342"/>
                  </a:moveTo>
                  <a:cubicBezTo>
                    <a:pt x="0" y="30150"/>
                    <a:pt x="30150" y="0"/>
                    <a:pt x="67342" y="0"/>
                  </a:cubicBezTo>
                  <a:lnTo>
                    <a:pt x="1626078" y="0"/>
                  </a:lnTo>
                  <a:cubicBezTo>
                    <a:pt x="1663270" y="0"/>
                    <a:pt x="1693420" y="30150"/>
                    <a:pt x="1693420" y="67342"/>
                  </a:cubicBezTo>
                  <a:lnTo>
                    <a:pt x="1693420" y="606075"/>
                  </a:lnTo>
                  <a:cubicBezTo>
                    <a:pt x="1693420" y="643267"/>
                    <a:pt x="1663270" y="673417"/>
                    <a:pt x="1626078" y="673417"/>
                  </a:cubicBezTo>
                  <a:lnTo>
                    <a:pt x="67342" y="673417"/>
                  </a:lnTo>
                  <a:cubicBezTo>
                    <a:pt x="30150" y="673417"/>
                    <a:pt x="0" y="643267"/>
                    <a:pt x="0" y="606075"/>
                  </a:cubicBezTo>
                  <a:lnTo>
                    <a:pt x="0" y="67342"/>
                  </a:lnTo>
                  <a:close/>
                </a:path>
              </a:pathLst>
            </a:custGeom>
            <a:solidFill>
              <a:srgbClr val="6F8BBE"/>
            </a:solidFill>
            <a:ln w="25400">
              <a:solidFill>
                <a:schemeClr val="bg1"/>
              </a:solidFill>
            </a:ln>
            <a:effectLst>
              <a:outerShdw blurRad="63500" dist="508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latinLnBrk="1"/>
              <a:r>
                <a:rPr lang="zh-CN" altLang="en-US" b="1" dirty="0">
                  <a:solidFill>
                    <a:srgbClr val="FFFFFF"/>
                  </a:solidFill>
                  <a:latin typeface="+mn-ea"/>
                </a:rPr>
                <a:t>应用领域</a:t>
              </a:r>
              <a:endParaRPr lang="en-US" altLang="zh-CN" b="1" dirty="0">
                <a:solidFill>
                  <a:srgbClr val="FFFFFF"/>
                </a:solidFill>
                <a:latin typeface="+mn-ea"/>
              </a:endParaRPr>
            </a:p>
          </p:txBody>
        </p:sp>
      </p:grpSp>
      <p:grpSp>
        <p:nvGrpSpPr>
          <p:cNvPr id="42" name="组合 41">
            <a:extLst>
              <a:ext uri="{FF2B5EF4-FFF2-40B4-BE49-F238E27FC236}">
                <a16:creationId xmlns:a16="http://schemas.microsoft.com/office/drawing/2014/main" id="{CA3864A5-892B-C86F-F4B6-414D34FFBE14}"/>
              </a:ext>
            </a:extLst>
          </p:cNvPr>
          <p:cNvGrpSpPr/>
          <p:nvPr/>
        </p:nvGrpSpPr>
        <p:grpSpPr>
          <a:xfrm>
            <a:off x="8060169" y="1685553"/>
            <a:ext cx="3738845" cy="4706554"/>
            <a:chOff x="4362937" y="1406271"/>
            <a:chExt cx="1757515" cy="1728160"/>
          </a:xfrm>
        </p:grpSpPr>
        <p:sp>
          <p:nvSpPr>
            <p:cNvPr id="43" name="任意多边形 45">
              <a:extLst>
                <a:ext uri="{FF2B5EF4-FFF2-40B4-BE49-F238E27FC236}">
                  <a16:creationId xmlns:a16="http://schemas.microsoft.com/office/drawing/2014/main" id="{FC8993EB-FFFE-F06C-EBD9-6D0000C70C9B}"/>
                </a:ext>
              </a:extLst>
            </p:cNvPr>
            <p:cNvSpPr/>
            <p:nvPr/>
          </p:nvSpPr>
          <p:spPr>
            <a:xfrm>
              <a:off x="4362937" y="1621290"/>
              <a:ext cx="1757515" cy="1513141"/>
            </a:xfrm>
            <a:custGeom>
              <a:avLst/>
              <a:gdLst>
                <a:gd name="connsiteX0" fmla="*/ 0 w 1905098"/>
                <a:gd name="connsiteY0" fmla="*/ 157131 h 1571307"/>
                <a:gd name="connsiteX1" fmla="*/ 157131 w 1905098"/>
                <a:gd name="connsiteY1" fmla="*/ 0 h 1571307"/>
                <a:gd name="connsiteX2" fmla="*/ 1747967 w 1905098"/>
                <a:gd name="connsiteY2" fmla="*/ 0 h 1571307"/>
                <a:gd name="connsiteX3" fmla="*/ 1905098 w 1905098"/>
                <a:gd name="connsiteY3" fmla="*/ 157131 h 1571307"/>
                <a:gd name="connsiteX4" fmla="*/ 1905098 w 1905098"/>
                <a:gd name="connsiteY4" fmla="*/ 1414176 h 1571307"/>
                <a:gd name="connsiteX5" fmla="*/ 1747967 w 1905098"/>
                <a:gd name="connsiteY5" fmla="*/ 1571307 h 1571307"/>
                <a:gd name="connsiteX6" fmla="*/ 157131 w 1905098"/>
                <a:gd name="connsiteY6" fmla="*/ 1571307 h 1571307"/>
                <a:gd name="connsiteX7" fmla="*/ 0 w 1905098"/>
                <a:gd name="connsiteY7" fmla="*/ 1414176 h 1571307"/>
                <a:gd name="connsiteX8" fmla="*/ 0 w 1905098"/>
                <a:gd name="connsiteY8" fmla="*/ 157131 h 1571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905098" h="1571307">
                  <a:moveTo>
                    <a:pt x="0" y="157131"/>
                  </a:moveTo>
                  <a:cubicBezTo>
                    <a:pt x="0" y="70350"/>
                    <a:pt x="70350" y="0"/>
                    <a:pt x="157131" y="0"/>
                  </a:cubicBezTo>
                  <a:lnTo>
                    <a:pt x="1747967" y="0"/>
                  </a:lnTo>
                  <a:cubicBezTo>
                    <a:pt x="1834748" y="0"/>
                    <a:pt x="1905098" y="70350"/>
                    <a:pt x="1905098" y="157131"/>
                  </a:cubicBezTo>
                  <a:lnTo>
                    <a:pt x="1905098" y="1414176"/>
                  </a:lnTo>
                  <a:cubicBezTo>
                    <a:pt x="1905098" y="1500957"/>
                    <a:pt x="1834748" y="1571307"/>
                    <a:pt x="1747967" y="1571307"/>
                  </a:cubicBezTo>
                  <a:lnTo>
                    <a:pt x="157131" y="1571307"/>
                  </a:lnTo>
                  <a:cubicBezTo>
                    <a:pt x="70350" y="1571307"/>
                    <a:pt x="0" y="1500957"/>
                    <a:pt x="0" y="1414176"/>
                  </a:cubicBezTo>
                  <a:lnTo>
                    <a:pt x="0" y="157131"/>
                  </a:lnTo>
                  <a:close/>
                </a:path>
              </a:pathLst>
            </a:cu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alpha val="9000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97120" tIns="97120" rIns="97120" bIns="433829" numCol="1" spcCol="1270" anchor="b" anchorCtr="0">
              <a:noAutofit/>
            </a:bodyPr>
            <a:lstStyle/>
            <a:p>
              <a:pPr marL="286166" lvl="1" indent="-286166" defTabSz="1422364">
                <a:lnSpc>
                  <a:spcPct val="15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endParaRPr lang="en-US" altLang="zh-CN" sz="1000" dirty="0">
                <a:latin typeface="+mn-ea"/>
              </a:endParaRPr>
            </a:p>
          </p:txBody>
        </p:sp>
        <p:sp>
          <p:nvSpPr>
            <p:cNvPr id="44" name="任意多边形 46">
              <a:extLst>
                <a:ext uri="{FF2B5EF4-FFF2-40B4-BE49-F238E27FC236}">
                  <a16:creationId xmlns:a16="http://schemas.microsoft.com/office/drawing/2014/main" id="{6AC5C475-954D-6647-BB68-A449AE1EC59C}"/>
                </a:ext>
              </a:extLst>
            </p:cNvPr>
            <p:cNvSpPr/>
            <p:nvPr/>
          </p:nvSpPr>
          <p:spPr>
            <a:xfrm>
              <a:off x="4553306" y="1406271"/>
              <a:ext cx="1336944" cy="261792"/>
            </a:xfrm>
            <a:custGeom>
              <a:avLst/>
              <a:gdLst>
                <a:gd name="connsiteX0" fmla="*/ 0 w 1693420"/>
                <a:gd name="connsiteY0" fmla="*/ 67342 h 673417"/>
                <a:gd name="connsiteX1" fmla="*/ 67342 w 1693420"/>
                <a:gd name="connsiteY1" fmla="*/ 0 h 673417"/>
                <a:gd name="connsiteX2" fmla="*/ 1626078 w 1693420"/>
                <a:gd name="connsiteY2" fmla="*/ 0 h 673417"/>
                <a:gd name="connsiteX3" fmla="*/ 1693420 w 1693420"/>
                <a:gd name="connsiteY3" fmla="*/ 67342 h 673417"/>
                <a:gd name="connsiteX4" fmla="*/ 1693420 w 1693420"/>
                <a:gd name="connsiteY4" fmla="*/ 606075 h 673417"/>
                <a:gd name="connsiteX5" fmla="*/ 1626078 w 1693420"/>
                <a:gd name="connsiteY5" fmla="*/ 673417 h 673417"/>
                <a:gd name="connsiteX6" fmla="*/ 67342 w 1693420"/>
                <a:gd name="connsiteY6" fmla="*/ 673417 h 673417"/>
                <a:gd name="connsiteX7" fmla="*/ 0 w 1693420"/>
                <a:gd name="connsiteY7" fmla="*/ 606075 h 673417"/>
                <a:gd name="connsiteX8" fmla="*/ 0 w 1693420"/>
                <a:gd name="connsiteY8" fmla="*/ 67342 h 673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93420" h="673417">
                  <a:moveTo>
                    <a:pt x="0" y="67342"/>
                  </a:moveTo>
                  <a:cubicBezTo>
                    <a:pt x="0" y="30150"/>
                    <a:pt x="30150" y="0"/>
                    <a:pt x="67342" y="0"/>
                  </a:cubicBezTo>
                  <a:lnTo>
                    <a:pt x="1626078" y="0"/>
                  </a:lnTo>
                  <a:cubicBezTo>
                    <a:pt x="1663270" y="0"/>
                    <a:pt x="1693420" y="30150"/>
                    <a:pt x="1693420" y="67342"/>
                  </a:cubicBezTo>
                  <a:lnTo>
                    <a:pt x="1693420" y="606075"/>
                  </a:lnTo>
                  <a:cubicBezTo>
                    <a:pt x="1693420" y="643267"/>
                    <a:pt x="1663270" y="673417"/>
                    <a:pt x="1626078" y="673417"/>
                  </a:cubicBezTo>
                  <a:lnTo>
                    <a:pt x="67342" y="673417"/>
                  </a:lnTo>
                  <a:cubicBezTo>
                    <a:pt x="30150" y="673417"/>
                    <a:pt x="0" y="643267"/>
                    <a:pt x="0" y="606075"/>
                  </a:cubicBezTo>
                  <a:lnTo>
                    <a:pt x="0" y="67342"/>
                  </a:lnTo>
                  <a:close/>
                </a:path>
              </a:pathLst>
            </a:custGeom>
            <a:solidFill>
              <a:srgbClr val="6F8BBE"/>
            </a:solidFill>
            <a:ln w="25400">
              <a:solidFill>
                <a:schemeClr val="bg1"/>
              </a:solidFill>
            </a:ln>
            <a:effectLst>
              <a:outerShdw blurRad="63500" dist="508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latinLnBrk="1"/>
              <a:r>
                <a:rPr lang="zh-CN" altLang="en-US" b="1" dirty="0">
                  <a:solidFill>
                    <a:srgbClr val="FFFFFF"/>
                  </a:solidFill>
                  <a:latin typeface="+mn-ea"/>
                </a:rPr>
                <a:t>具身智能</a:t>
              </a:r>
              <a:endParaRPr lang="en-US" altLang="zh-CN" b="1" dirty="0">
                <a:solidFill>
                  <a:srgbClr val="FFFFFF"/>
                </a:solidFill>
                <a:latin typeface="+mn-ea"/>
              </a:endParaRPr>
            </a:p>
          </p:txBody>
        </p:sp>
        <p:sp>
          <p:nvSpPr>
            <p:cNvPr id="45" name="矩形 44">
              <a:extLst>
                <a:ext uri="{FF2B5EF4-FFF2-40B4-BE49-F238E27FC236}">
                  <a16:creationId xmlns:a16="http://schemas.microsoft.com/office/drawing/2014/main" id="{6C1D094A-CBD5-3509-E98A-A0E5DFDA2024}"/>
                </a:ext>
              </a:extLst>
            </p:cNvPr>
            <p:cNvSpPr/>
            <p:nvPr/>
          </p:nvSpPr>
          <p:spPr>
            <a:xfrm>
              <a:off x="4434387" y="1696798"/>
              <a:ext cx="1614616" cy="19299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lvl="1" defTabSz="1422364">
                <a:lnSpc>
                  <a:spcPct val="150000"/>
                </a:lnSpc>
                <a:spcBef>
                  <a:spcPct val="0"/>
                </a:spcBef>
                <a:spcAft>
                  <a:spcPct val="15000"/>
                </a:spcAft>
              </a:pPr>
              <a:r>
                <a:rPr lang="zh-CN" altLang="en-US" b="0" i="0" dirty="0">
                  <a:solidFill>
                    <a:srgbClr val="24292F"/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</a:rPr>
                <a:t>        </a:t>
              </a:r>
            </a:p>
          </p:txBody>
        </p:sp>
      </p:grpSp>
      <p:pic>
        <p:nvPicPr>
          <p:cNvPr id="46" name="图片 45">
            <a:extLst>
              <a:ext uri="{FF2B5EF4-FFF2-40B4-BE49-F238E27FC236}">
                <a16:creationId xmlns:a16="http://schemas.microsoft.com/office/drawing/2014/main" id="{672C6220-BF2C-33E0-10D0-45991A8B0CA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6518" y="2516394"/>
            <a:ext cx="2505642" cy="2493654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47" name="图片 46">
            <a:extLst>
              <a:ext uri="{FF2B5EF4-FFF2-40B4-BE49-F238E27FC236}">
                <a16:creationId xmlns:a16="http://schemas.microsoft.com/office/drawing/2014/main" id="{39475D3A-4DA3-860C-55D3-86061ECD265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38742" y="2516394"/>
            <a:ext cx="2807637" cy="2493654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48" name="图片 47">
            <a:extLst>
              <a:ext uri="{FF2B5EF4-FFF2-40B4-BE49-F238E27FC236}">
                <a16:creationId xmlns:a16="http://schemas.microsoft.com/office/drawing/2014/main" id="{4BEAE549-9F0E-6652-6639-DF504DFF855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98333" y="2516394"/>
            <a:ext cx="2758805" cy="2493653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sp>
        <p:nvSpPr>
          <p:cNvPr id="57" name="矩形 56">
            <a:extLst>
              <a:ext uri="{FF2B5EF4-FFF2-40B4-BE49-F238E27FC236}">
                <a16:creationId xmlns:a16="http://schemas.microsoft.com/office/drawing/2014/main" id="{89FC3FEC-A6A1-5A75-3FE8-B4A6754DF127}"/>
              </a:ext>
            </a:extLst>
          </p:cNvPr>
          <p:cNvSpPr/>
          <p:nvPr/>
        </p:nvSpPr>
        <p:spPr>
          <a:xfrm>
            <a:off x="4347040" y="5096378"/>
            <a:ext cx="3434849" cy="11568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1" algn="ctr" defTabSz="1422364">
              <a:lnSpc>
                <a:spcPct val="150000"/>
              </a:lnSpc>
              <a:spcBef>
                <a:spcPct val="0"/>
              </a:spcBef>
              <a:spcAft>
                <a:spcPct val="15000"/>
              </a:spcAft>
            </a:pPr>
            <a:r>
              <a:rPr lang="zh-CN" altLang="en-US" sz="1600" b="1" dirty="0"/>
              <a:t>低空无人机在资源勘探、搜救监测及环境巡检等主动目标定位任务中扮演关键角色</a:t>
            </a:r>
            <a:endParaRPr lang="zh-CN" altLang="en-US" sz="1600" b="1" i="0" dirty="0">
              <a:solidFill>
                <a:srgbClr val="24292F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8" name="矩形 57">
            <a:extLst>
              <a:ext uri="{FF2B5EF4-FFF2-40B4-BE49-F238E27FC236}">
                <a16:creationId xmlns:a16="http://schemas.microsoft.com/office/drawing/2014/main" id="{8FA4EBB0-45CB-BCF4-E234-C7312DFE29D7}"/>
              </a:ext>
            </a:extLst>
          </p:cNvPr>
          <p:cNvSpPr/>
          <p:nvPr/>
        </p:nvSpPr>
        <p:spPr>
          <a:xfrm>
            <a:off x="8212168" y="5201879"/>
            <a:ext cx="3434849" cy="7875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1" algn="ctr" defTabSz="1422364">
              <a:lnSpc>
                <a:spcPct val="150000"/>
              </a:lnSpc>
              <a:spcBef>
                <a:spcPct val="0"/>
              </a:spcBef>
              <a:spcAft>
                <a:spcPct val="15000"/>
              </a:spcAft>
            </a:pPr>
            <a:r>
              <a:rPr lang="zh-CN" altLang="en-US" sz="1600" b="1" dirty="0"/>
              <a:t>主动定位导航赋予无人机“自主决策”能力，紧扣学术前沿与工程需求</a:t>
            </a:r>
            <a:endParaRPr lang="zh-CN" altLang="en-US" sz="1600" b="1" i="0" dirty="0">
              <a:solidFill>
                <a:srgbClr val="24292F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276BA9-555A-53D2-7FC7-1630A1163C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矩形 15">
            <a:extLst>
              <a:ext uri="{FF2B5EF4-FFF2-40B4-BE49-F238E27FC236}">
                <a16:creationId xmlns:a16="http://schemas.microsoft.com/office/drawing/2014/main" id="{EEFEEEE5-5A7E-CBD6-5150-37EFC38337BB}"/>
              </a:ext>
            </a:extLst>
          </p:cNvPr>
          <p:cNvSpPr/>
          <p:nvPr/>
        </p:nvSpPr>
        <p:spPr>
          <a:xfrm>
            <a:off x="0" y="155115"/>
            <a:ext cx="1655328" cy="257314"/>
          </a:xfrm>
          <a:prstGeom prst="rect">
            <a:avLst/>
          </a:prstGeom>
          <a:solidFill>
            <a:srgbClr val="6F8BB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8C08BEF6-1EAD-868D-1652-E06EE22983C3}"/>
              </a:ext>
            </a:extLst>
          </p:cNvPr>
          <p:cNvSpPr/>
          <p:nvPr/>
        </p:nvSpPr>
        <p:spPr>
          <a:xfrm>
            <a:off x="0" y="1614"/>
            <a:ext cx="12192000" cy="164287"/>
          </a:xfrm>
          <a:prstGeom prst="rect">
            <a:avLst/>
          </a:prstGeom>
          <a:solidFill>
            <a:srgbClr val="6F8BB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473B6E89-FE8B-50C3-2DE3-BB4CEB16D733}"/>
              </a:ext>
            </a:extLst>
          </p:cNvPr>
          <p:cNvSpPr txBox="1"/>
          <p:nvPr/>
        </p:nvSpPr>
        <p:spPr>
          <a:xfrm>
            <a:off x="142816" y="65238"/>
            <a:ext cx="20955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bg1"/>
                </a:solidFill>
                <a:cs typeface="+mn-ea"/>
                <a:sym typeface="+mn-lt"/>
              </a:rPr>
              <a:t>Presentation</a:t>
            </a:r>
            <a:endParaRPr lang="zh-CN" altLang="en-US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D48CCFBD-2495-6AF1-F8FB-215C1B75A51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9917" y="617901"/>
            <a:ext cx="915835" cy="867277"/>
          </a:xfrm>
          <a:prstGeom prst="rect">
            <a:avLst/>
          </a:prstGeo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90FE04F7-E881-01A1-742F-9A2D0ABFD9DD}"/>
              </a:ext>
            </a:extLst>
          </p:cNvPr>
          <p:cNvSpPr txBox="1"/>
          <p:nvPr/>
        </p:nvSpPr>
        <p:spPr>
          <a:xfrm>
            <a:off x="600330" y="759151"/>
            <a:ext cx="37500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dirty="0">
                <a:solidFill>
                  <a:schemeClr val="accent1">
                    <a:lumMod val="75000"/>
                  </a:schemeClr>
                </a:solidFill>
                <a:cs typeface="+mn-ea"/>
                <a:sym typeface="+mn-lt"/>
              </a:rPr>
              <a:t>2</a:t>
            </a:r>
            <a:endParaRPr lang="zh-CN" altLang="en-US" sz="3200" dirty="0">
              <a:solidFill>
                <a:schemeClr val="accent1">
                  <a:lumMod val="7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7BFCAE07-91D0-552A-0977-4CAFAAD7D794}"/>
              </a:ext>
            </a:extLst>
          </p:cNvPr>
          <p:cNvSpPr txBox="1"/>
          <p:nvPr/>
        </p:nvSpPr>
        <p:spPr>
          <a:xfrm>
            <a:off x="1655328" y="793828"/>
            <a:ext cx="2330156" cy="583565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rgbClr val="0070C0"/>
                </a:solidFill>
                <a:cs typeface="+mn-ea"/>
                <a:sym typeface="+mn-lt"/>
              </a:rPr>
              <a:t>现存问题</a:t>
            </a:r>
            <a:endParaRPr lang="en-US" altLang="zh-CN" sz="3200" b="1" dirty="0">
              <a:solidFill>
                <a:srgbClr val="0070C0"/>
              </a:solidFill>
              <a:cs typeface="+mn-ea"/>
              <a:sym typeface="+mn-lt"/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5B191ACD-63B6-62F9-D17F-6AE33AC43E6F}"/>
              </a:ext>
            </a:extLst>
          </p:cNvPr>
          <p:cNvSpPr/>
          <p:nvPr/>
        </p:nvSpPr>
        <p:spPr>
          <a:xfrm>
            <a:off x="0" y="6693452"/>
            <a:ext cx="12192000" cy="164287"/>
          </a:xfrm>
          <a:prstGeom prst="rect">
            <a:avLst/>
          </a:prstGeom>
          <a:solidFill>
            <a:srgbClr val="6F8BB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grpSp>
        <p:nvGrpSpPr>
          <p:cNvPr id="30" name="组合 29">
            <a:extLst>
              <a:ext uri="{FF2B5EF4-FFF2-40B4-BE49-F238E27FC236}">
                <a16:creationId xmlns:a16="http://schemas.microsoft.com/office/drawing/2014/main" id="{3EF001BD-ACAA-0AC1-0F29-B6115BF9D3E2}"/>
              </a:ext>
            </a:extLst>
          </p:cNvPr>
          <p:cNvGrpSpPr/>
          <p:nvPr/>
        </p:nvGrpSpPr>
        <p:grpSpPr>
          <a:xfrm>
            <a:off x="329917" y="1678737"/>
            <a:ext cx="3738845" cy="4713371"/>
            <a:chOff x="4362937" y="1406271"/>
            <a:chExt cx="1757515" cy="1810774"/>
          </a:xfrm>
        </p:grpSpPr>
        <p:sp>
          <p:nvSpPr>
            <p:cNvPr id="31" name="任意多边形 45">
              <a:extLst>
                <a:ext uri="{FF2B5EF4-FFF2-40B4-BE49-F238E27FC236}">
                  <a16:creationId xmlns:a16="http://schemas.microsoft.com/office/drawing/2014/main" id="{8C728BDD-5E9E-FB1A-FC9D-DEAD942C4723}"/>
                </a:ext>
              </a:extLst>
            </p:cNvPr>
            <p:cNvSpPr/>
            <p:nvPr/>
          </p:nvSpPr>
          <p:spPr>
            <a:xfrm>
              <a:off x="4362937" y="1621290"/>
              <a:ext cx="1757515" cy="1595755"/>
            </a:xfrm>
            <a:custGeom>
              <a:avLst/>
              <a:gdLst>
                <a:gd name="connsiteX0" fmla="*/ 0 w 1905098"/>
                <a:gd name="connsiteY0" fmla="*/ 157131 h 1571307"/>
                <a:gd name="connsiteX1" fmla="*/ 157131 w 1905098"/>
                <a:gd name="connsiteY1" fmla="*/ 0 h 1571307"/>
                <a:gd name="connsiteX2" fmla="*/ 1747967 w 1905098"/>
                <a:gd name="connsiteY2" fmla="*/ 0 h 1571307"/>
                <a:gd name="connsiteX3" fmla="*/ 1905098 w 1905098"/>
                <a:gd name="connsiteY3" fmla="*/ 157131 h 1571307"/>
                <a:gd name="connsiteX4" fmla="*/ 1905098 w 1905098"/>
                <a:gd name="connsiteY4" fmla="*/ 1414176 h 1571307"/>
                <a:gd name="connsiteX5" fmla="*/ 1747967 w 1905098"/>
                <a:gd name="connsiteY5" fmla="*/ 1571307 h 1571307"/>
                <a:gd name="connsiteX6" fmla="*/ 157131 w 1905098"/>
                <a:gd name="connsiteY6" fmla="*/ 1571307 h 1571307"/>
                <a:gd name="connsiteX7" fmla="*/ 0 w 1905098"/>
                <a:gd name="connsiteY7" fmla="*/ 1414176 h 1571307"/>
                <a:gd name="connsiteX8" fmla="*/ 0 w 1905098"/>
                <a:gd name="connsiteY8" fmla="*/ 157131 h 1571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905098" h="1571307">
                  <a:moveTo>
                    <a:pt x="0" y="157131"/>
                  </a:moveTo>
                  <a:cubicBezTo>
                    <a:pt x="0" y="70350"/>
                    <a:pt x="70350" y="0"/>
                    <a:pt x="157131" y="0"/>
                  </a:cubicBezTo>
                  <a:lnTo>
                    <a:pt x="1747967" y="0"/>
                  </a:lnTo>
                  <a:cubicBezTo>
                    <a:pt x="1834748" y="0"/>
                    <a:pt x="1905098" y="70350"/>
                    <a:pt x="1905098" y="157131"/>
                  </a:cubicBezTo>
                  <a:lnTo>
                    <a:pt x="1905098" y="1414176"/>
                  </a:lnTo>
                  <a:cubicBezTo>
                    <a:pt x="1905098" y="1500957"/>
                    <a:pt x="1834748" y="1571307"/>
                    <a:pt x="1747967" y="1571307"/>
                  </a:cubicBezTo>
                  <a:lnTo>
                    <a:pt x="157131" y="1571307"/>
                  </a:lnTo>
                  <a:cubicBezTo>
                    <a:pt x="70350" y="1571307"/>
                    <a:pt x="0" y="1500957"/>
                    <a:pt x="0" y="1414176"/>
                  </a:cubicBezTo>
                  <a:lnTo>
                    <a:pt x="0" y="157131"/>
                  </a:lnTo>
                  <a:close/>
                </a:path>
              </a:pathLst>
            </a:cu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alpha val="9000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97120" tIns="97120" rIns="97120" bIns="433829" numCol="1" spcCol="1270" anchor="b" anchorCtr="0">
              <a:noAutofit/>
            </a:bodyPr>
            <a:lstStyle/>
            <a:p>
              <a:pPr marL="286166" lvl="1" indent="-286166" defTabSz="1422364">
                <a:lnSpc>
                  <a:spcPct val="15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endParaRPr lang="en-US" altLang="zh-CN" sz="1000" dirty="0">
                <a:latin typeface="+mn-ea"/>
              </a:endParaRPr>
            </a:p>
          </p:txBody>
        </p:sp>
        <p:sp>
          <p:nvSpPr>
            <p:cNvPr id="32" name="任意多边形 46">
              <a:extLst>
                <a:ext uri="{FF2B5EF4-FFF2-40B4-BE49-F238E27FC236}">
                  <a16:creationId xmlns:a16="http://schemas.microsoft.com/office/drawing/2014/main" id="{DD8FB413-0455-4970-056C-4AA3D8FFB23F}"/>
                </a:ext>
              </a:extLst>
            </p:cNvPr>
            <p:cNvSpPr/>
            <p:nvPr/>
          </p:nvSpPr>
          <p:spPr>
            <a:xfrm>
              <a:off x="4553306" y="1406271"/>
              <a:ext cx="1336944" cy="261792"/>
            </a:xfrm>
            <a:custGeom>
              <a:avLst/>
              <a:gdLst>
                <a:gd name="connsiteX0" fmla="*/ 0 w 1693420"/>
                <a:gd name="connsiteY0" fmla="*/ 67342 h 673417"/>
                <a:gd name="connsiteX1" fmla="*/ 67342 w 1693420"/>
                <a:gd name="connsiteY1" fmla="*/ 0 h 673417"/>
                <a:gd name="connsiteX2" fmla="*/ 1626078 w 1693420"/>
                <a:gd name="connsiteY2" fmla="*/ 0 h 673417"/>
                <a:gd name="connsiteX3" fmla="*/ 1693420 w 1693420"/>
                <a:gd name="connsiteY3" fmla="*/ 67342 h 673417"/>
                <a:gd name="connsiteX4" fmla="*/ 1693420 w 1693420"/>
                <a:gd name="connsiteY4" fmla="*/ 606075 h 673417"/>
                <a:gd name="connsiteX5" fmla="*/ 1626078 w 1693420"/>
                <a:gd name="connsiteY5" fmla="*/ 673417 h 673417"/>
                <a:gd name="connsiteX6" fmla="*/ 67342 w 1693420"/>
                <a:gd name="connsiteY6" fmla="*/ 673417 h 673417"/>
                <a:gd name="connsiteX7" fmla="*/ 0 w 1693420"/>
                <a:gd name="connsiteY7" fmla="*/ 606075 h 673417"/>
                <a:gd name="connsiteX8" fmla="*/ 0 w 1693420"/>
                <a:gd name="connsiteY8" fmla="*/ 67342 h 673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93420" h="673417">
                  <a:moveTo>
                    <a:pt x="0" y="67342"/>
                  </a:moveTo>
                  <a:cubicBezTo>
                    <a:pt x="0" y="30150"/>
                    <a:pt x="30150" y="0"/>
                    <a:pt x="67342" y="0"/>
                  </a:cubicBezTo>
                  <a:lnTo>
                    <a:pt x="1626078" y="0"/>
                  </a:lnTo>
                  <a:cubicBezTo>
                    <a:pt x="1663270" y="0"/>
                    <a:pt x="1693420" y="30150"/>
                    <a:pt x="1693420" y="67342"/>
                  </a:cubicBezTo>
                  <a:lnTo>
                    <a:pt x="1693420" y="606075"/>
                  </a:lnTo>
                  <a:cubicBezTo>
                    <a:pt x="1693420" y="643267"/>
                    <a:pt x="1663270" y="673417"/>
                    <a:pt x="1626078" y="673417"/>
                  </a:cubicBezTo>
                  <a:lnTo>
                    <a:pt x="67342" y="673417"/>
                  </a:lnTo>
                  <a:cubicBezTo>
                    <a:pt x="30150" y="673417"/>
                    <a:pt x="0" y="643267"/>
                    <a:pt x="0" y="606075"/>
                  </a:cubicBezTo>
                  <a:lnTo>
                    <a:pt x="0" y="67342"/>
                  </a:lnTo>
                  <a:close/>
                </a:path>
              </a:pathLst>
            </a:custGeom>
            <a:solidFill>
              <a:srgbClr val="6F8BBE"/>
            </a:solidFill>
            <a:ln w="25400">
              <a:solidFill>
                <a:schemeClr val="bg1"/>
              </a:solidFill>
            </a:ln>
            <a:effectLst>
              <a:outerShdw blurRad="63500" dist="508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latinLnBrk="1"/>
              <a:r>
                <a:rPr lang="zh-CN" altLang="en-US" b="1" dirty="0">
                  <a:solidFill>
                    <a:srgbClr val="FFFFFF"/>
                  </a:solidFill>
                  <a:latin typeface="+mn-ea"/>
                </a:rPr>
                <a:t>探索效率低</a:t>
              </a:r>
              <a:endParaRPr lang="en-US" altLang="zh-CN" b="1" dirty="0">
                <a:solidFill>
                  <a:srgbClr val="FFFFFF"/>
                </a:solidFill>
                <a:latin typeface="+mn-ea"/>
              </a:endParaRPr>
            </a:p>
          </p:txBody>
        </p:sp>
        <p:sp>
          <p:nvSpPr>
            <p:cNvPr id="33" name="矩形 32">
              <a:extLst>
                <a:ext uri="{FF2B5EF4-FFF2-40B4-BE49-F238E27FC236}">
                  <a16:creationId xmlns:a16="http://schemas.microsoft.com/office/drawing/2014/main" id="{16A85AE7-8110-E68F-3A7A-C8AA07FDF5BA}"/>
                </a:ext>
              </a:extLst>
            </p:cNvPr>
            <p:cNvSpPr/>
            <p:nvPr/>
          </p:nvSpPr>
          <p:spPr>
            <a:xfrm>
              <a:off x="4434386" y="2719254"/>
              <a:ext cx="1614616" cy="44443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lvl="1" algn="ctr" defTabSz="1422364">
                <a:lnSpc>
                  <a:spcPct val="150000"/>
                </a:lnSpc>
                <a:spcBef>
                  <a:spcPct val="0"/>
                </a:spcBef>
                <a:spcAft>
                  <a:spcPct val="15000"/>
                </a:spcAft>
              </a:pPr>
              <a:r>
                <a:rPr lang="zh-CN" altLang="en-US" sz="1600" b="1" dirty="0"/>
                <a:t>传统方法过度依赖目标反馈，在未发现目标前缺乏有效指引，导致在广域空间内盲目搜索，任务耗时长</a:t>
              </a:r>
              <a:endParaRPr lang="zh-CN" altLang="en-US" sz="1600" b="1" i="0" dirty="0">
                <a:solidFill>
                  <a:srgbClr val="24292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38" name="组合 37">
            <a:extLst>
              <a:ext uri="{FF2B5EF4-FFF2-40B4-BE49-F238E27FC236}">
                <a16:creationId xmlns:a16="http://schemas.microsoft.com/office/drawing/2014/main" id="{3AAADDE9-389E-C4AE-591C-5A2843290815}"/>
              </a:ext>
            </a:extLst>
          </p:cNvPr>
          <p:cNvGrpSpPr/>
          <p:nvPr/>
        </p:nvGrpSpPr>
        <p:grpSpPr>
          <a:xfrm>
            <a:off x="4195043" y="1685552"/>
            <a:ext cx="3738845" cy="4706555"/>
            <a:chOff x="4362937" y="1406271"/>
            <a:chExt cx="1757515" cy="1728160"/>
          </a:xfrm>
        </p:grpSpPr>
        <p:sp>
          <p:nvSpPr>
            <p:cNvPr id="39" name="任意多边形 45">
              <a:extLst>
                <a:ext uri="{FF2B5EF4-FFF2-40B4-BE49-F238E27FC236}">
                  <a16:creationId xmlns:a16="http://schemas.microsoft.com/office/drawing/2014/main" id="{BBAC8809-C4B3-DA8D-0D27-857AB829632F}"/>
                </a:ext>
              </a:extLst>
            </p:cNvPr>
            <p:cNvSpPr/>
            <p:nvPr/>
          </p:nvSpPr>
          <p:spPr>
            <a:xfrm>
              <a:off x="4362937" y="1621290"/>
              <a:ext cx="1757515" cy="1513141"/>
            </a:xfrm>
            <a:custGeom>
              <a:avLst/>
              <a:gdLst>
                <a:gd name="connsiteX0" fmla="*/ 0 w 1905098"/>
                <a:gd name="connsiteY0" fmla="*/ 157131 h 1571307"/>
                <a:gd name="connsiteX1" fmla="*/ 157131 w 1905098"/>
                <a:gd name="connsiteY1" fmla="*/ 0 h 1571307"/>
                <a:gd name="connsiteX2" fmla="*/ 1747967 w 1905098"/>
                <a:gd name="connsiteY2" fmla="*/ 0 h 1571307"/>
                <a:gd name="connsiteX3" fmla="*/ 1905098 w 1905098"/>
                <a:gd name="connsiteY3" fmla="*/ 157131 h 1571307"/>
                <a:gd name="connsiteX4" fmla="*/ 1905098 w 1905098"/>
                <a:gd name="connsiteY4" fmla="*/ 1414176 h 1571307"/>
                <a:gd name="connsiteX5" fmla="*/ 1747967 w 1905098"/>
                <a:gd name="connsiteY5" fmla="*/ 1571307 h 1571307"/>
                <a:gd name="connsiteX6" fmla="*/ 157131 w 1905098"/>
                <a:gd name="connsiteY6" fmla="*/ 1571307 h 1571307"/>
                <a:gd name="connsiteX7" fmla="*/ 0 w 1905098"/>
                <a:gd name="connsiteY7" fmla="*/ 1414176 h 1571307"/>
                <a:gd name="connsiteX8" fmla="*/ 0 w 1905098"/>
                <a:gd name="connsiteY8" fmla="*/ 157131 h 1571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905098" h="1571307">
                  <a:moveTo>
                    <a:pt x="0" y="157131"/>
                  </a:moveTo>
                  <a:cubicBezTo>
                    <a:pt x="0" y="70350"/>
                    <a:pt x="70350" y="0"/>
                    <a:pt x="157131" y="0"/>
                  </a:cubicBezTo>
                  <a:lnTo>
                    <a:pt x="1747967" y="0"/>
                  </a:lnTo>
                  <a:cubicBezTo>
                    <a:pt x="1834748" y="0"/>
                    <a:pt x="1905098" y="70350"/>
                    <a:pt x="1905098" y="157131"/>
                  </a:cubicBezTo>
                  <a:lnTo>
                    <a:pt x="1905098" y="1414176"/>
                  </a:lnTo>
                  <a:cubicBezTo>
                    <a:pt x="1905098" y="1500957"/>
                    <a:pt x="1834748" y="1571307"/>
                    <a:pt x="1747967" y="1571307"/>
                  </a:cubicBezTo>
                  <a:lnTo>
                    <a:pt x="157131" y="1571307"/>
                  </a:lnTo>
                  <a:cubicBezTo>
                    <a:pt x="70350" y="1571307"/>
                    <a:pt x="0" y="1500957"/>
                    <a:pt x="0" y="1414176"/>
                  </a:cubicBezTo>
                  <a:lnTo>
                    <a:pt x="0" y="157131"/>
                  </a:lnTo>
                  <a:close/>
                </a:path>
              </a:pathLst>
            </a:cu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alpha val="9000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97120" tIns="97120" rIns="97120" bIns="433829" numCol="1" spcCol="1270" anchor="b" anchorCtr="0">
              <a:noAutofit/>
            </a:bodyPr>
            <a:lstStyle/>
            <a:p>
              <a:pPr marL="286166" lvl="1" indent="-286166" defTabSz="1422364">
                <a:lnSpc>
                  <a:spcPct val="15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endParaRPr lang="en-US" altLang="zh-CN" sz="1000" dirty="0">
                <a:latin typeface="+mn-ea"/>
              </a:endParaRPr>
            </a:p>
          </p:txBody>
        </p:sp>
        <p:sp>
          <p:nvSpPr>
            <p:cNvPr id="40" name="任意多边形 46">
              <a:extLst>
                <a:ext uri="{FF2B5EF4-FFF2-40B4-BE49-F238E27FC236}">
                  <a16:creationId xmlns:a16="http://schemas.microsoft.com/office/drawing/2014/main" id="{27D507D6-94CC-79B4-DDC5-CE28A26397BB}"/>
                </a:ext>
              </a:extLst>
            </p:cNvPr>
            <p:cNvSpPr/>
            <p:nvPr/>
          </p:nvSpPr>
          <p:spPr>
            <a:xfrm>
              <a:off x="4553306" y="1406271"/>
              <a:ext cx="1336944" cy="261792"/>
            </a:xfrm>
            <a:custGeom>
              <a:avLst/>
              <a:gdLst>
                <a:gd name="connsiteX0" fmla="*/ 0 w 1693420"/>
                <a:gd name="connsiteY0" fmla="*/ 67342 h 673417"/>
                <a:gd name="connsiteX1" fmla="*/ 67342 w 1693420"/>
                <a:gd name="connsiteY1" fmla="*/ 0 h 673417"/>
                <a:gd name="connsiteX2" fmla="*/ 1626078 w 1693420"/>
                <a:gd name="connsiteY2" fmla="*/ 0 h 673417"/>
                <a:gd name="connsiteX3" fmla="*/ 1693420 w 1693420"/>
                <a:gd name="connsiteY3" fmla="*/ 67342 h 673417"/>
                <a:gd name="connsiteX4" fmla="*/ 1693420 w 1693420"/>
                <a:gd name="connsiteY4" fmla="*/ 606075 h 673417"/>
                <a:gd name="connsiteX5" fmla="*/ 1626078 w 1693420"/>
                <a:gd name="connsiteY5" fmla="*/ 673417 h 673417"/>
                <a:gd name="connsiteX6" fmla="*/ 67342 w 1693420"/>
                <a:gd name="connsiteY6" fmla="*/ 673417 h 673417"/>
                <a:gd name="connsiteX7" fmla="*/ 0 w 1693420"/>
                <a:gd name="connsiteY7" fmla="*/ 606075 h 673417"/>
                <a:gd name="connsiteX8" fmla="*/ 0 w 1693420"/>
                <a:gd name="connsiteY8" fmla="*/ 67342 h 673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93420" h="673417">
                  <a:moveTo>
                    <a:pt x="0" y="67342"/>
                  </a:moveTo>
                  <a:cubicBezTo>
                    <a:pt x="0" y="30150"/>
                    <a:pt x="30150" y="0"/>
                    <a:pt x="67342" y="0"/>
                  </a:cubicBezTo>
                  <a:lnTo>
                    <a:pt x="1626078" y="0"/>
                  </a:lnTo>
                  <a:cubicBezTo>
                    <a:pt x="1663270" y="0"/>
                    <a:pt x="1693420" y="30150"/>
                    <a:pt x="1693420" y="67342"/>
                  </a:cubicBezTo>
                  <a:lnTo>
                    <a:pt x="1693420" y="606075"/>
                  </a:lnTo>
                  <a:cubicBezTo>
                    <a:pt x="1693420" y="643267"/>
                    <a:pt x="1663270" y="673417"/>
                    <a:pt x="1626078" y="673417"/>
                  </a:cubicBezTo>
                  <a:lnTo>
                    <a:pt x="67342" y="673417"/>
                  </a:lnTo>
                  <a:cubicBezTo>
                    <a:pt x="30150" y="673417"/>
                    <a:pt x="0" y="643267"/>
                    <a:pt x="0" y="606075"/>
                  </a:cubicBezTo>
                  <a:lnTo>
                    <a:pt x="0" y="67342"/>
                  </a:lnTo>
                  <a:close/>
                </a:path>
              </a:pathLst>
            </a:custGeom>
            <a:solidFill>
              <a:srgbClr val="6F8BBE"/>
            </a:solidFill>
            <a:ln w="25400">
              <a:solidFill>
                <a:schemeClr val="bg1"/>
              </a:solidFill>
            </a:ln>
            <a:effectLst>
              <a:outerShdw blurRad="63500" dist="508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latinLnBrk="1"/>
              <a:r>
                <a:rPr lang="zh-CN" altLang="en-US" b="1" dirty="0">
                  <a:solidFill>
                    <a:srgbClr val="FFFFFF"/>
                  </a:solidFill>
                  <a:latin typeface="+mn-ea"/>
                </a:rPr>
                <a:t>局部最优</a:t>
              </a:r>
              <a:endParaRPr lang="en-US" altLang="zh-CN" b="1" dirty="0">
                <a:solidFill>
                  <a:srgbClr val="FFFFFF"/>
                </a:solidFill>
                <a:latin typeface="+mn-ea"/>
              </a:endParaRPr>
            </a:p>
          </p:txBody>
        </p:sp>
      </p:grpSp>
      <p:grpSp>
        <p:nvGrpSpPr>
          <p:cNvPr id="42" name="组合 41">
            <a:extLst>
              <a:ext uri="{FF2B5EF4-FFF2-40B4-BE49-F238E27FC236}">
                <a16:creationId xmlns:a16="http://schemas.microsoft.com/office/drawing/2014/main" id="{26B595EC-36F7-2F81-CFDA-1926FEBE451D}"/>
              </a:ext>
            </a:extLst>
          </p:cNvPr>
          <p:cNvGrpSpPr/>
          <p:nvPr/>
        </p:nvGrpSpPr>
        <p:grpSpPr>
          <a:xfrm>
            <a:off x="8060169" y="1685553"/>
            <a:ext cx="3738845" cy="4706554"/>
            <a:chOff x="4362937" y="1406271"/>
            <a:chExt cx="1757515" cy="1728160"/>
          </a:xfrm>
        </p:grpSpPr>
        <p:sp>
          <p:nvSpPr>
            <p:cNvPr id="43" name="任意多边形 45">
              <a:extLst>
                <a:ext uri="{FF2B5EF4-FFF2-40B4-BE49-F238E27FC236}">
                  <a16:creationId xmlns:a16="http://schemas.microsoft.com/office/drawing/2014/main" id="{FB1D2C24-9104-028C-BF21-7B8BAA7BB50D}"/>
                </a:ext>
              </a:extLst>
            </p:cNvPr>
            <p:cNvSpPr/>
            <p:nvPr/>
          </p:nvSpPr>
          <p:spPr>
            <a:xfrm>
              <a:off x="4362937" y="1621290"/>
              <a:ext cx="1757515" cy="1513141"/>
            </a:xfrm>
            <a:custGeom>
              <a:avLst/>
              <a:gdLst>
                <a:gd name="connsiteX0" fmla="*/ 0 w 1905098"/>
                <a:gd name="connsiteY0" fmla="*/ 157131 h 1571307"/>
                <a:gd name="connsiteX1" fmla="*/ 157131 w 1905098"/>
                <a:gd name="connsiteY1" fmla="*/ 0 h 1571307"/>
                <a:gd name="connsiteX2" fmla="*/ 1747967 w 1905098"/>
                <a:gd name="connsiteY2" fmla="*/ 0 h 1571307"/>
                <a:gd name="connsiteX3" fmla="*/ 1905098 w 1905098"/>
                <a:gd name="connsiteY3" fmla="*/ 157131 h 1571307"/>
                <a:gd name="connsiteX4" fmla="*/ 1905098 w 1905098"/>
                <a:gd name="connsiteY4" fmla="*/ 1414176 h 1571307"/>
                <a:gd name="connsiteX5" fmla="*/ 1747967 w 1905098"/>
                <a:gd name="connsiteY5" fmla="*/ 1571307 h 1571307"/>
                <a:gd name="connsiteX6" fmla="*/ 157131 w 1905098"/>
                <a:gd name="connsiteY6" fmla="*/ 1571307 h 1571307"/>
                <a:gd name="connsiteX7" fmla="*/ 0 w 1905098"/>
                <a:gd name="connsiteY7" fmla="*/ 1414176 h 1571307"/>
                <a:gd name="connsiteX8" fmla="*/ 0 w 1905098"/>
                <a:gd name="connsiteY8" fmla="*/ 157131 h 1571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905098" h="1571307">
                  <a:moveTo>
                    <a:pt x="0" y="157131"/>
                  </a:moveTo>
                  <a:cubicBezTo>
                    <a:pt x="0" y="70350"/>
                    <a:pt x="70350" y="0"/>
                    <a:pt x="157131" y="0"/>
                  </a:cubicBezTo>
                  <a:lnTo>
                    <a:pt x="1747967" y="0"/>
                  </a:lnTo>
                  <a:cubicBezTo>
                    <a:pt x="1834748" y="0"/>
                    <a:pt x="1905098" y="70350"/>
                    <a:pt x="1905098" y="157131"/>
                  </a:cubicBezTo>
                  <a:lnTo>
                    <a:pt x="1905098" y="1414176"/>
                  </a:lnTo>
                  <a:cubicBezTo>
                    <a:pt x="1905098" y="1500957"/>
                    <a:pt x="1834748" y="1571307"/>
                    <a:pt x="1747967" y="1571307"/>
                  </a:cubicBezTo>
                  <a:lnTo>
                    <a:pt x="157131" y="1571307"/>
                  </a:lnTo>
                  <a:cubicBezTo>
                    <a:pt x="70350" y="1571307"/>
                    <a:pt x="0" y="1500957"/>
                    <a:pt x="0" y="1414176"/>
                  </a:cubicBezTo>
                  <a:lnTo>
                    <a:pt x="0" y="157131"/>
                  </a:lnTo>
                  <a:close/>
                </a:path>
              </a:pathLst>
            </a:cu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alpha val="9000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97120" tIns="97120" rIns="97120" bIns="433829" numCol="1" spcCol="1270" anchor="b" anchorCtr="0">
              <a:noAutofit/>
            </a:bodyPr>
            <a:lstStyle/>
            <a:p>
              <a:pPr marL="286166" lvl="1" indent="-286166" defTabSz="1422364">
                <a:lnSpc>
                  <a:spcPct val="15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endParaRPr lang="en-US" altLang="zh-CN" sz="1000" dirty="0">
                <a:latin typeface="+mn-ea"/>
              </a:endParaRPr>
            </a:p>
          </p:txBody>
        </p:sp>
        <p:sp>
          <p:nvSpPr>
            <p:cNvPr id="44" name="任意多边形 46">
              <a:extLst>
                <a:ext uri="{FF2B5EF4-FFF2-40B4-BE49-F238E27FC236}">
                  <a16:creationId xmlns:a16="http://schemas.microsoft.com/office/drawing/2014/main" id="{FEAC0FE1-9DE4-F2D5-01F3-4ECEC013B430}"/>
                </a:ext>
              </a:extLst>
            </p:cNvPr>
            <p:cNvSpPr/>
            <p:nvPr/>
          </p:nvSpPr>
          <p:spPr>
            <a:xfrm>
              <a:off x="4553306" y="1406271"/>
              <a:ext cx="1336944" cy="261792"/>
            </a:xfrm>
            <a:custGeom>
              <a:avLst/>
              <a:gdLst>
                <a:gd name="connsiteX0" fmla="*/ 0 w 1693420"/>
                <a:gd name="connsiteY0" fmla="*/ 67342 h 673417"/>
                <a:gd name="connsiteX1" fmla="*/ 67342 w 1693420"/>
                <a:gd name="connsiteY1" fmla="*/ 0 h 673417"/>
                <a:gd name="connsiteX2" fmla="*/ 1626078 w 1693420"/>
                <a:gd name="connsiteY2" fmla="*/ 0 h 673417"/>
                <a:gd name="connsiteX3" fmla="*/ 1693420 w 1693420"/>
                <a:gd name="connsiteY3" fmla="*/ 67342 h 673417"/>
                <a:gd name="connsiteX4" fmla="*/ 1693420 w 1693420"/>
                <a:gd name="connsiteY4" fmla="*/ 606075 h 673417"/>
                <a:gd name="connsiteX5" fmla="*/ 1626078 w 1693420"/>
                <a:gd name="connsiteY5" fmla="*/ 673417 h 673417"/>
                <a:gd name="connsiteX6" fmla="*/ 67342 w 1693420"/>
                <a:gd name="connsiteY6" fmla="*/ 673417 h 673417"/>
                <a:gd name="connsiteX7" fmla="*/ 0 w 1693420"/>
                <a:gd name="connsiteY7" fmla="*/ 606075 h 673417"/>
                <a:gd name="connsiteX8" fmla="*/ 0 w 1693420"/>
                <a:gd name="connsiteY8" fmla="*/ 67342 h 673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93420" h="673417">
                  <a:moveTo>
                    <a:pt x="0" y="67342"/>
                  </a:moveTo>
                  <a:cubicBezTo>
                    <a:pt x="0" y="30150"/>
                    <a:pt x="30150" y="0"/>
                    <a:pt x="67342" y="0"/>
                  </a:cubicBezTo>
                  <a:lnTo>
                    <a:pt x="1626078" y="0"/>
                  </a:lnTo>
                  <a:cubicBezTo>
                    <a:pt x="1663270" y="0"/>
                    <a:pt x="1693420" y="30150"/>
                    <a:pt x="1693420" y="67342"/>
                  </a:cubicBezTo>
                  <a:lnTo>
                    <a:pt x="1693420" y="606075"/>
                  </a:lnTo>
                  <a:cubicBezTo>
                    <a:pt x="1693420" y="643267"/>
                    <a:pt x="1663270" y="673417"/>
                    <a:pt x="1626078" y="673417"/>
                  </a:cubicBezTo>
                  <a:lnTo>
                    <a:pt x="67342" y="673417"/>
                  </a:lnTo>
                  <a:cubicBezTo>
                    <a:pt x="30150" y="673417"/>
                    <a:pt x="0" y="643267"/>
                    <a:pt x="0" y="606075"/>
                  </a:cubicBezTo>
                  <a:lnTo>
                    <a:pt x="0" y="67342"/>
                  </a:lnTo>
                  <a:close/>
                </a:path>
              </a:pathLst>
            </a:custGeom>
            <a:solidFill>
              <a:srgbClr val="6F8BBE"/>
            </a:solidFill>
            <a:ln w="25400">
              <a:solidFill>
                <a:schemeClr val="bg1"/>
              </a:solidFill>
            </a:ln>
            <a:effectLst>
              <a:outerShdw blurRad="63500" dist="508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latinLnBrk="1"/>
              <a:r>
                <a:rPr lang="zh-CN" altLang="en-US" b="1" dirty="0">
                  <a:solidFill>
                    <a:srgbClr val="FFFFFF"/>
                  </a:solidFill>
                  <a:latin typeface="+mn-ea"/>
                </a:rPr>
                <a:t>反馈匮乏</a:t>
              </a:r>
              <a:endParaRPr lang="en-US" altLang="zh-CN" b="1" dirty="0">
                <a:solidFill>
                  <a:srgbClr val="FFFFFF"/>
                </a:solidFill>
                <a:latin typeface="+mn-ea"/>
              </a:endParaRPr>
            </a:p>
          </p:txBody>
        </p:sp>
        <p:sp>
          <p:nvSpPr>
            <p:cNvPr id="45" name="矩形 44">
              <a:extLst>
                <a:ext uri="{FF2B5EF4-FFF2-40B4-BE49-F238E27FC236}">
                  <a16:creationId xmlns:a16="http://schemas.microsoft.com/office/drawing/2014/main" id="{67ED074E-8F00-FA7F-8E9D-F3560DC46D51}"/>
                </a:ext>
              </a:extLst>
            </p:cNvPr>
            <p:cNvSpPr/>
            <p:nvPr/>
          </p:nvSpPr>
          <p:spPr>
            <a:xfrm>
              <a:off x="4434387" y="1696798"/>
              <a:ext cx="1614616" cy="19299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lvl="1" defTabSz="1422364">
                <a:lnSpc>
                  <a:spcPct val="150000"/>
                </a:lnSpc>
                <a:spcBef>
                  <a:spcPct val="0"/>
                </a:spcBef>
                <a:spcAft>
                  <a:spcPct val="15000"/>
                </a:spcAft>
              </a:pPr>
              <a:r>
                <a:rPr lang="zh-CN" altLang="en-US" b="0" i="0" dirty="0">
                  <a:solidFill>
                    <a:srgbClr val="24292F"/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</a:rPr>
                <a:t>        </a:t>
              </a:r>
            </a:p>
          </p:txBody>
        </p:sp>
      </p:grpSp>
      <p:pic>
        <p:nvPicPr>
          <p:cNvPr id="46" name="图片 45">
            <a:extLst>
              <a:ext uri="{FF2B5EF4-FFF2-40B4-BE49-F238E27FC236}">
                <a16:creationId xmlns:a16="http://schemas.microsoft.com/office/drawing/2014/main" id="{9BEC82D9-1980-FD8A-58F8-55052AB4B5D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6518" y="2516394"/>
            <a:ext cx="2505642" cy="2493654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sp>
        <p:nvSpPr>
          <p:cNvPr id="57" name="矩形 56">
            <a:extLst>
              <a:ext uri="{FF2B5EF4-FFF2-40B4-BE49-F238E27FC236}">
                <a16:creationId xmlns:a16="http://schemas.microsoft.com/office/drawing/2014/main" id="{AB784835-E4D0-AD73-8B4B-F79739E9ADDD}"/>
              </a:ext>
            </a:extLst>
          </p:cNvPr>
          <p:cNvSpPr/>
          <p:nvPr/>
        </p:nvSpPr>
        <p:spPr>
          <a:xfrm>
            <a:off x="4378575" y="5096378"/>
            <a:ext cx="3434849" cy="11568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1" algn="ctr" defTabSz="1422364">
              <a:lnSpc>
                <a:spcPct val="150000"/>
              </a:lnSpc>
              <a:spcBef>
                <a:spcPct val="0"/>
              </a:spcBef>
              <a:spcAft>
                <a:spcPct val="15000"/>
              </a:spcAft>
            </a:pPr>
            <a:r>
              <a:rPr lang="zh-CN" altLang="en-US" sz="1600" b="1" dirty="0"/>
              <a:t>在非结构化或相似性高的复杂环境中，智能体容易在局部区域反复徘徊，无法跳出“探索死循环”</a:t>
            </a:r>
            <a:endParaRPr lang="zh-CN" altLang="en-US" sz="1600" b="1" i="0" dirty="0">
              <a:solidFill>
                <a:srgbClr val="24292F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8" name="矩形 57">
            <a:extLst>
              <a:ext uri="{FF2B5EF4-FFF2-40B4-BE49-F238E27FC236}">
                <a16:creationId xmlns:a16="http://schemas.microsoft.com/office/drawing/2014/main" id="{1B9B4877-445D-891B-D891-C27E1CD709DE}"/>
              </a:ext>
            </a:extLst>
          </p:cNvPr>
          <p:cNvSpPr/>
          <p:nvPr/>
        </p:nvSpPr>
        <p:spPr>
          <a:xfrm>
            <a:off x="8275237" y="5096505"/>
            <a:ext cx="3434849" cy="115672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1" algn="ctr" defTabSz="1422364">
              <a:lnSpc>
                <a:spcPct val="150000"/>
              </a:lnSpc>
              <a:spcBef>
                <a:spcPct val="0"/>
              </a:spcBef>
              <a:spcAft>
                <a:spcPct val="15000"/>
              </a:spcAft>
            </a:pPr>
            <a:r>
              <a:rPr lang="zh-CN" altLang="en-US" sz="1600" b="1" dirty="0"/>
              <a:t>目标分布稀疏，导航系统在长程任务中因长时间获取不到奖励信号而失效，难以支撑复杂任务</a:t>
            </a:r>
            <a:endParaRPr lang="zh-CN" altLang="en-US" sz="1600" b="1" i="0" dirty="0">
              <a:solidFill>
                <a:srgbClr val="24292F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9560CB33-680D-3C52-0173-85B41C0085A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1267" y="2484951"/>
            <a:ext cx="2576141" cy="2576141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03F2E3F6-5006-FD22-5948-12CF301A056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38745" y="2516394"/>
            <a:ext cx="2599002" cy="2579985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A4116F9B-A5C3-1C6E-373F-07D6E088616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61778" y="2527016"/>
            <a:ext cx="2583703" cy="2580616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sp>
        <p:nvSpPr>
          <p:cNvPr id="7" name="椭圆 6">
            <a:extLst>
              <a:ext uri="{FF2B5EF4-FFF2-40B4-BE49-F238E27FC236}">
                <a16:creationId xmlns:a16="http://schemas.microsoft.com/office/drawing/2014/main" id="{D8364F21-D34A-6596-F88B-7AEDDBE66AD0}"/>
              </a:ext>
            </a:extLst>
          </p:cNvPr>
          <p:cNvSpPr/>
          <p:nvPr/>
        </p:nvSpPr>
        <p:spPr>
          <a:xfrm>
            <a:off x="6353944" y="2638541"/>
            <a:ext cx="936947" cy="914400"/>
          </a:xfrm>
          <a:prstGeom prst="ellipse">
            <a:avLst/>
          </a:prstGeom>
          <a:noFill/>
          <a:ln w="571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538328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BCF2FE-844D-BF44-BE40-FDCBA8C24F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472CC2B5-BDF4-EF55-D0C8-D7CE4462AB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87539" y="531975"/>
            <a:ext cx="2213905" cy="5681316"/>
          </a:xfrm>
          <a:prstGeom prst="rect">
            <a:avLst/>
          </a:prstGeom>
        </p:spPr>
      </p:pic>
      <p:sp>
        <p:nvSpPr>
          <p:cNvPr id="8" name="矩形 7">
            <a:extLst>
              <a:ext uri="{FF2B5EF4-FFF2-40B4-BE49-F238E27FC236}">
                <a16:creationId xmlns:a16="http://schemas.microsoft.com/office/drawing/2014/main" id="{07136BE4-352A-29D2-D871-43A97C19DF5F}"/>
              </a:ext>
            </a:extLst>
          </p:cNvPr>
          <p:cNvSpPr/>
          <p:nvPr/>
        </p:nvSpPr>
        <p:spPr>
          <a:xfrm>
            <a:off x="5337884" y="531975"/>
            <a:ext cx="2163559" cy="181039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EA03B794-280F-E6C4-893A-B2E9CEA5BE6F}"/>
              </a:ext>
            </a:extLst>
          </p:cNvPr>
          <p:cNvSpPr/>
          <p:nvPr/>
        </p:nvSpPr>
        <p:spPr>
          <a:xfrm>
            <a:off x="0" y="155115"/>
            <a:ext cx="1655328" cy="257314"/>
          </a:xfrm>
          <a:prstGeom prst="rect">
            <a:avLst/>
          </a:prstGeom>
          <a:solidFill>
            <a:srgbClr val="6F8BB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B45A0584-B8E5-4CA8-91B3-5E968AC42FF4}"/>
              </a:ext>
            </a:extLst>
          </p:cNvPr>
          <p:cNvSpPr/>
          <p:nvPr/>
        </p:nvSpPr>
        <p:spPr>
          <a:xfrm>
            <a:off x="0" y="1614"/>
            <a:ext cx="12192000" cy="164287"/>
          </a:xfrm>
          <a:prstGeom prst="rect">
            <a:avLst/>
          </a:prstGeom>
          <a:solidFill>
            <a:srgbClr val="6F8BB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47DC3E35-C09D-8DFF-9F69-E02553953937}"/>
              </a:ext>
            </a:extLst>
          </p:cNvPr>
          <p:cNvSpPr txBox="1"/>
          <p:nvPr/>
        </p:nvSpPr>
        <p:spPr>
          <a:xfrm>
            <a:off x="142816" y="65238"/>
            <a:ext cx="20955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bg1"/>
                </a:solidFill>
                <a:cs typeface="+mn-ea"/>
                <a:sym typeface="+mn-lt"/>
              </a:rPr>
              <a:t>Presentation</a:t>
            </a:r>
            <a:endParaRPr lang="zh-CN" altLang="en-US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CB54514F-6F49-8BD9-BDF8-715305AD5D2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9917" y="617901"/>
            <a:ext cx="915835" cy="867277"/>
          </a:xfrm>
          <a:prstGeom prst="rect">
            <a:avLst/>
          </a:prstGeo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F59B7941-9A27-B45E-392C-B29727838EC3}"/>
              </a:ext>
            </a:extLst>
          </p:cNvPr>
          <p:cNvSpPr txBox="1"/>
          <p:nvPr/>
        </p:nvSpPr>
        <p:spPr>
          <a:xfrm>
            <a:off x="600330" y="759151"/>
            <a:ext cx="37500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dirty="0">
                <a:solidFill>
                  <a:schemeClr val="accent1">
                    <a:lumMod val="75000"/>
                  </a:schemeClr>
                </a:solidFill>
                <a:cs typeface="+mn-ea"/>
                <a:sym typeface="+mn-lt"/>
              </a:rPr>
              <a:t>3</a:t>
            </a:r>
            <a:endParaRPr lang="zh-CN" altLang="en-US" sz="3200" dirty="0">
              <a:solidFill>
                <a:schemeClr val="accent1">
                  <a:lumMod val="7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7BD76B33-940D-C033-90F1-C907D8076E45}"/>
              </a:ext>
            </a:extLst>
          </p:cNvPr>
          <p:cNvSpPr txBox="1"/>
          <p:nvPr/>
        </p:nvSpPr>
        <p:spPr>
          <a:xfrm>
            <a:off x="1655328" y="793828"/>
            <a:ext cx="2330156" cy="583565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rgbClr val="0070C0"/>
                </a:solidFill>
                <a:cs typeface="+mn-ea"/>
                <a:sym typeface="+mn-lt"/>
              </a:rPr>
              <a:t>任务设置</a:t>
            </a:r>
            <a:endParaRPr lang="en-US" altLang="zh-CN" sz="3200" b="1" dirty="0">
              <a:solidFill>
                <a:srgbClr val="0070C0"/>
              </a:solidFill>
              <a:cs typeface="+mn-ea"/>
              <a:sym typeface="+mn-lt"/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7B70A922-1E6E-5FEA-22E7-0569D1B77E1A}"/>
              </a:ext>
            </a:extLst>
          </p:cNvPr>
          <p:cNvSpPr/>
          <p:nvPr/>
        </p:nvSpPr>
        <p:spPr>
          <a:xfrm>
            <a:off x="0" y="6693452"/>
            <a:ext cx="12192000" cy="164287"/>
          </a:xfrm>
          <a:prstGeom prst="rect">
            <a:avLst/>
          </a:prstGeom>
          <a:solidFill>
            <a:srgbClr val="6F8BB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CED7A6AF-ACD2-9ABC-6B66-5B60E30011A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13778" y="3319445"/>
            <a:ext cx="3910249" cy="1958303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19A49394-277C-F806-AC0D-65C0582F12D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13778" y="1361142"/>
            <a:ext cx="3954508" cy="1958303"/>
          </a:xfrm>
          <a:prstGeom prst="rect">
            <a:avLst/>
          </a:prstGeom>
        </p:spPr>
      </p:pic>
      <p:sp>
        <p:nvSpPr>
          <p:cNvPr id="13" name="文本框 12">
            <a:extLst>
              <a:ext uri="{FF2B5EF4-FFF2-40B4-BE49-F238E27FC236}">
                <a16:creationId xmlns:a16="http://schemas.microsoft.com/office/drawing/2014/main" id="{C0ED115E-426F-92E7-17CA-3DF546580994}"/>
              </a:ext>
            </a:extLst>
          </p:cNvPr>
          <p:cNvSpPr txBox="1"/>
          <p:nvPr/>
        </p:nvSpPr>
        <p:spPr>
          <a:xfrm>
            <a:off x="5978924" y="3751061"/>
            <a:ext cx="1316477" cy="30777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zh-CN" altLang="en-US" sz="1400" b="1" dirty="0"/>
              <a:t>俯视图像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84BACD92-F093-62E1-400E-5284E8CC6EDC}"/>
              </a:ext>
            </a:extLst>
          </p:cNvPr>
          <p:cNvSpPr txBox="1"/>
          <p:nvPr/>
        </p:nvSpPr>
        <p:spPr>
          <a:xfrm>
            <a:off x="5834961" y="6133059"/>
            <a:ext cx="1408904" cy="30777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zh-CN" altLang="en-US" sz="1400" b="1" dirty="0"/>
              <a:t>给定搜索区域</a:t>
            </a:r>
          </a:p>
        </p:txBody>
      </p:sp>
      <p:sp>
        <p:nvSpPr>
          <p:cNvPr id="17" name="箭头: 右 16">
            <a:extLst>
              <a:ext uri="{FF2B5EF4-FFF2-40B4-BE49-F238E27FC236}">
                <a16:creationId xmlns:a16="http://schemas.microsoft.com/office/drawing/2014/main" id="{6521383B-A5BB-36DA-D075-B20E019EBB11}"/>
              </a:ext>
            </a:extLst>
          </p:cNvPr>
          <p:cNvSpPr/>
          <p:nvPr/>
        </p:nvSpPr>
        <p:spPr>
          <a:xfrm>
            <a:off x="7582001" y="3143296"/>
            <a:ext cx="442378" cy="38052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矩形: 圆角 19">
            <a:extLst>
              <a:ext uri="{FF2B5EF4-FFF2-40B4-BE49-F238E27FC236}">
                <a16:creationId xmlns:a16="http://schemas.microsoft.com/office/drawing/2014/main" id="{E5F267C2-83DD-EB95-C856-2BEEEA2B392A}"/>
              </a:ext>
            </a:extLst>
          </p:cNvPr>
          <p:cNvSpPr/>
          <p:nvPr/>
        </p:nvSpPr>
        <p:spPr>
          <a:xfrm>
            <a:off x="5224993" y="457200"/>
            <a:ext cx="2330156" cy="5983636"/>
          </a:xfrm>
          <a:prstGeom prst="roundRect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A5DBFA86-5A63-C636-0F45-59226EAD7523}"/>
              </a:ext>
            </a:extLst>
          </p:cNvPr>
          <p:cNvSpPr/>
          <p:nvPr/>
        </p:nvSpPr>
        <p:spPr>
          <a:xfrm>
            <a:off x="8051232" y="1031343"/>
            <a:ext cx="4017054" cy="4604426"/>
          </a:xfrm>
          <a:prstGeom prst="roundRect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F814EE9A-1049-41CB-BCC1-3584B7C95747}"/>
              </a:ext>
            </a:extLst>
          </p:cNvPr>
          <p:cNvSpPr txBox="1"/>
          <p:nvPr/>
        </p:nvSpPr>
        <p:spPr>
          <a:xfrm>
            <a:off x="9362907" y="5297203"/>
            <a:ext cx="1456250" cy="30777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zh-CN" altLang="en-US" sz="1400" b="1" dirty="0"/>
              <a:t>无人机探索路径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BDF2DFD4-41D1-91F3-C991-C0DD7BD0C88D}"/>
              </a:ext>
            </a:extLst>
          </p:cNvPr>
          <p:cNvSpPr txBox="1"/>
          <p:nvPr/>
        </p:nvSpPr>
        <p:spPr>
          <a:xfrm>
            <a:off x="364702" y="1492253"/>
            <a:ext cx="4772581" cy="4613892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b="1" dirty="0">
                <a:solidFill>
                  <a:srgbClr val="0070C0"/>
                </a:solidFill>
                <a:latin typeface="+mn-ea"/>
              </a:rPr>
              <a:t>搜索区域设置：</a:t>
            </a:r>
            <a:endParaRPr lang="en-US" altLang="zh-CN" b="1" dirty="0">
              <a:solidFill>
                <a:srgbClr val="0070C0"/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zh-CN" altLang="en-US" b="1" dirty="0">
                <a:latin typeface="+mn-ea"/>
              </a:rPr>
              <a:t>      任务执行在一个指定的搜索空间</a:t>
            </a:r>
            <a:endParaRPr lang="en-US" altLang="zh-CN" b="1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zh-CN" altLang="en-US" b="1" dirty="0">
                <a:latin typeface="+mn-ea"/>
              </a:rPr>
              <a:t>      该空间被离散化切割为多个独立的子区域（单元块），以便于智能体记录探索状态。</a:t>
            </a:r>
            <a:endParaRPr lang="en-US" altLang="zh-CN" b="1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zh-CN" altLang="en-US" b="1" dirty="0">
                <a:solidFill>
                  <a:srgbClr val="0070C0"/>
                </a:solidFill>
                <a:latin typeface="+mn-ea"/>
              </a:rPr>
              <a:t>图像</a:t>
            </a:r>
            <a:r>
              <a:rPr lang="en-US" altLang="zh-CN" b="1" dirty="0">
                <a:solidFill>
                  <a:srgbClr val="0070C0"/>
                </a:solidFill>
                <a:latin typeface="+mn-ea"/>
              </a:rPr>
              <a:t>-</a:t>
            </a:r>
            <a:r>
              <a:rPr lang="zh-CN" altLang="en-US" b="1" dirty="0">
                <a:solidFill>
                  <a:srgbClr val="0070C0"/>
                </a:solidFill>
                <a:latin typeface="+mn-ea"/>
              </a:rPr>
              <a:t>语义目标引导：</a:t>
            </a:r>
            <a:endParaRPr lang="en-US" altLang="zh-CN" b="1" dirty="0">
              <a:solidFill>
                <a:srgbClr val="0070C0"/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zh-CN" altLang="en-US" b="1" dirty="0">
                <a:solidFill>
                  <a:schemeClr val="tx1"/>
                </a:solidFill>
                <a:latin typeface="+mn-ea"/>
              </a:rPr>
              <a:t>      地面图像、俯视图像、语言描述</a:t>
            </a:r>
            <a:endParaRPr lang="en-US" altLang="zh-CN" b="1" dirty="0">
              <a:solidFill>
                <a:schemeClr val="tx1"/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zh-CN" altLang="en-US" b="1" dirty="0">
                <a:solidFill>
                  <a:srgbClr val="0070C0"/>
                </a:solidFill>
                <a:latin typeface="+mn-ea"/>
              </a:rPr>
              <a:t>动作设置：</a:t>
            </a:r>
            <a:endParaRPr lang="en-US" altLang="zh-CN" b="1" dirty="0">
              <a:solidFill>
                <a:srgbClr val="0070C0"/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zh-CN" altLang="en-US" b="1" dirty="0">
                <a:solidFill>
                  <a:srgbClr val="0070C0"/>
                </a:solidFill>
                <a:latin typeface="+mn-ea"/>
              </a:rPr>
              <a:t>      </a:t>
            </a:r>
            <a:r>
              <a:rPr lang="zh-CN" altLang="en-US" b="1" dirty="0">
                <a:solidFill>
                  <a:schemeClr val="tx1"/>
                </a:solidFill>
                <a:latin typeface="+mn-ea"/>
              </a:rPr>
              <a:t>前进、后退、左移、右移四种</a:t>
            </a:r>
            <a:endParaRPr lang="en-US" altLang="zh-CN" b="1" dirty="0">
              <a:solidFill>
                <a:schemeClr val="tx1"/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zh-CN" altLang="en-US" b="1" dirty="0">
                <a:solidFill>
                  <a:srgbClr val="0070C0"/>
                </a:solidFill>
                <a:latin typeface="+mn-ea"/>
              </a:rPr>
              <a:t>任务核心目标：</a:t>
            </a:r>
            <a:endParaRPr lang="en-US" altLang="zh-CN" b="1" dirty="0">
              <a:solidFill>
                <a:srgbClr val="0070C0"/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zh-CN" altLang="en-US" b="1" dirty="0">
                <a:solidFill>
                  <a:schemeClr val="tx1"/>
                </a:solidFill>
                <a:latin typeface="+mn-ea"/>
              </a:rPr>
              <a:t>       无人机在局部观测约束下，</a:t>
            </a:r>
            <a:r>
              <a:rPr lang="zh-CN" altLang="en-US" b="1" dirty="0"/>
              <a:t>融合多模态先验信息，实现主动搜索定位目标导航</a:t>
            </a:r>
            <a:endParaRPr lang="zh-CN" altLang="en-US" b="1" dirty="0">
              <a:solidFill>
                <a:schemeClr val="tx1"/>
              </a:solidFill>
              <a:latin typeface="+mn-ea"/>
            </a:endParaRP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C563387B-D205-9FC7-5EAD-898F3E0305A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37883" y="658916"/>
            <a:ext cx="2096314" cy="1542761"/>
          </a:xfrm>
          <a:prstGeom prst="rect">
            <a:avLst/>
          </a:prstGeom>
        </p:spPr>
      </p:pic>
      <p:sp>
        <p:nvSpPr>
          <p:cNvPr id="24" name="文本框 23">
            <a:extLst>
              <a:ext uri="{FF2B5EF4-FFF2-40B4-BE49-F238E27FC236}">
                <a16:creationId xmlns:a16="http://schemas.microsoft.com/office/drawing/2014/main" id="{A02E450A-6A1C-BE1A-7DBA-3EA6BA8A2E07}"/>
              </a:ext>
            </a:extLst>
          </p:cNvPr>
          <p:cNvSpPr txBox="1"/>
          <p:nvPr/>
        </p:nvSpPr>
        <p:spPr>
          <a:xfrm>
            <a:off x="5978923" y="2173721"/>
            <a:ext cx="1316477" cy="30777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zh-CN" altLang="en-US" sz="1400" b="1" dirty="0"/>
              <a:t>文本描述</a:t>
            </a:r>
          </a:p>
        </p:txBody>
      </p:sp>
    </p:spTree>
    <p:extLst>
      <p:ext uri="{BB962C8B-B14F-4D97-AF65-F5344CB8AC3E}">
        <p14:creationId xmlns:p14="http://schemas.microsoft.com/office/powerpoint/2010/main" val="34920699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D51C74-C752-2705-B109-50BEC62508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矩形 15">
            <a:extLst>
              <a:ext uri="{FF2B5EF4-FFF2-40B4-BE49-F238E27FC236}">
                <a16:creationId xmlns:a16="http://schemas.microsoft.com/office/drawing/2014/main" id="{EAA11659-FE0E-3011-EB57-4D7D317CF3C8}"/>
              </a:ext>
            </a:extLst>
          </p:cNvPr>
          <p:cNvSpPr/>
          <p:nvPr/>
        </p:nvSpPr>
        <p:spPr>
          <a:xfrm>
            <a:off x="0" y="155115"/>
            <a:ext cx="1655328" cy="257314"/>
          </a:xfrm>
          <a:prstGeom prst="rect">
            <a:avLst/>
          </a:prstGeom>
          <a:solidFill>
            <a:srgbClr val="6F8BB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0CB7413F-B79F-2685-9C71-5877F0ABDCD4}"/>
              </a:ext>
            </a:extLst>
          </p:cNvPr>
          <p:cNvSpPr/>
          <p:nvPr/>
        </p:nvSpPr>
        <p:spPr>
          <a:xfrm>
            <a:off x="0" y="1614"/>
            <a:ext cx="12192000" cy="164287"/>
          </a:xfrm>
          <a:prstGeom prst="rect">
            <a:avLst/>
          </a:prstGeom>
          <a:solidFill>
            <a:srgbClr val="6F8BB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834E79B0-58C5-775E-F994-DAAF2E0374CC}"/>
              </a:ext>
            </a:extLst>
          </p:cNvPr>
          <p:cNvSpPr txBox="1"/>
          <p:nvPr/>
        </p:nvSpPr>
        <p:spPr>
          <a:xfrm>
            <a:off x="142816" y="65238"/>
            <a:ext cx="20955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bg1"/>
                </a:solidFill>
                <a:cs typeface="+mn-ea"/>
                <a:sym typeface="+mn-lt"/>
              </a:rPr>
              <a:t>Presentation</a:t>
            </a:r>
            <a:endParaRPr lang="zh-CN" altLang="en-US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700282FA-25FB-CF47-0B9D-6C123CA80AE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7391" y="617901"/>
            <a:ext cx="915835" cy="867277"/>
          </a:xfrm>
          <a:prstGeom prst="rect">
            <a:avLst/>
          </a:prstGeo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F444E6EB-9579-3A46-FDD7-1ED99ED1EA7C}"/>
              </a:ext>
            </a:extLst>
          </p:cNvPr>
          <p:cNvSpPr txBox="1"/>
          <p:nvPr/>
        </p:nvSpPr>
        <p:spPr>
          <a:xfrm>
            <a:off x="587804" y="759151"/>
            <a:ext cx="37500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dirty="0">
                <a:solidFill>
                  <a:schemeClr val="accent1">
                    <a:lumMod val="75000"/>
                  </a:schemeClr>
                </a:solidFill>
                <a:cs typeface="+mn-ea"/>
                <a:sym typeface="+mn-lt"/>
              </a:rPr>
              <a:t>4</a:t>
            </a:r>
            <a:endParaRPr lang="zh-CN" altLang="en-US" sz="3200" dirty="0">
              <a:solidFill>
                <a:schemeClr val="accent1">
                  <a:lumMod val="7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F17F9EB0-D189-16BD-8654-7DE5D1E8F978}"/>
              </a:ext>
            </a:extLst>
          </p:cNvPr>
          <p:cNvSpPr txBox="1"/>
          <p:nvPr/>
        </p:nvSpPr>
        <p:spPr>
          <a:xfrm>
            <a:off x="1642802" y="793828"/>
            <a:ext cx="2330156" cy="583565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rgbClr val="0070C0"/>
                </a:solidFill>
                <a:cs typeface="+mn-ea"/>
                <a:sym typeface="+mn-lt"/>
              </a:rPr>
              <a:t>研究框架</a:t>
            </a:r>
            <a:endParaRPr lang="en-US" altLang="zh-CN" sz="3200" b="1" dirty="0">
              <a:solidFill>
                <a:srgbClr val="0070C0"/>
              </a:solidFill>
              <a:cs typeface="+mn-ea"/>
              <a:sym typeface="+mn-lt"/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18AA776A-2C3F-A1F8-E583-4748D75EA250}"/>
              </a:ext>
            </a:extLst>
          </p:cNvPr>
          <p:cNvSpPr/>
          <p:nvPr/>
        </p:nvSpPr>
        <p:spPr>
          <a:xfrm>
            <a:off x="0" y="6693452"/>
            <a:ext cx="12192000" cy="164287"/>
          </a:xfrm>
          <a:prstGeom prst="rect">
            <a:avLst/>
          </a:prstGeom>
          <a:solidFill>
            <a:srgbClr val="6F8BB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04C2CAA7-1825-C085-62AD-4F14434EEE6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55328" y="1485178"/>
            <a:ext cx="8693063" cy="49408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62462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5EE334-D94C-BBA3-89D1-A93B9BBAE5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7F751EC5-8B98-D06B-F051-DB2C62BA0D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6123" y="2230501"/>
            <a:ext cx="4586739" cy="1349041"/>
          </a:xfrm>
          <a:prstGeom prst="rect">
            <a:avLst/>
          </a:prstGeom>
        </p:spPr>
      </p:pic>
      <p:sp>
        <p:nvSpPr>
          <p:cNvPr id="16" name="矩形 15">
            <a:extLst>
              <a:ext uri="{FF2B5EF4-FFF2-40B4-BE49-F238E27FC236}">
                <a16:creationId xmlns:a16="http://schemas.microsoft.com/office/drawing/2014/main" id="{8C89861C-9D44-E7C6-74C0-D83CB313882A}"/>
              </a:ext>
            </a:extLst>
          </p:cNvPr>
          <p:cNvSpPr/>
          <p:nvPr/>
        </p:nvSpPr>
        <p:spPr>
          <a:xfrm>
            <a:off x="0" y="155115"/>
            <a:ext cx="1655328" cy="257314"/>
          </a:xfrm>
          <a:prstGeom prst="rect">
            <a:avLst/>
          </a:prstGeom>
          <a:solidFill>
            <a:srgbClr val="6F8BB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731AF5F4-D283-9C0E-92C5-15D708546B83}"/>
              </a:ext>
            </a:extLst>
          </p:cNvPr>
          <p:cNvSpPr/>
          <p:nvPr/>
        </p:nvSpPr>
        <p:spPr>
          <a:xfrm>
            <a:off x="0" y="1614"/>
            <a:ext cx="12192000" cy="164287"/>
          </a:xfrm>
          <a:prstGeom prst="rect">
            <a:avLst/>
          </a:prstGeom>
          <a:solidFill>
            <a:srgbClr val="6F8BB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D63A488-729E-D161-A6BD-8DB07B5B07DF}"/>
              </a:ext>
            </a:extLst>
          </p:cNvPr>
          <p:cNvSpPr txBox="1"/>
          <p:nvPr/>
        </p:nvSpPr>
        <p:spPr>
          <a:xfrm>
            <a:off x="142816" y="65238"/>
            <a:ext cx="20955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bg1"/>
                </a:solidFill>
                <a:cs typeface="+mn-ea"/>
                <a:sym typeface="+mn-lt"/>
              </a:rPr>
              <a:t>Presentation</a:t>
            </a:r>
            <a:endParaRPr lang="zh-CN" altLang="en-US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AC740CB5-B20B-3809-C6F1-BA6C89C69F85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7391" y="617901"/>
            <a:ext cx="915835" cy="867277"/>
          </a:xfrm>
          <a:prstGeom prst="rect">
            <a:avLst/>
          </a:prstGeo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CFB0E678-F67A-D041-6FC8-E3B33B6ABCEE}"/>
              </a:ext>
            </a:extLst>
          </p:cNvPr>
          <p:cNvSpPr txBox="1"/>
          <p:nvPr/>
        </p:nvSpPr>
        <p:spPr>
          <a:xfrm>
            <a:off x="587804" y="759151"/>
            <a:ext cx="37500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dirty="0">
                <a:solidFill>
                  <a:schemeClr val="accent1">
                    <a:lumMod val="75000"/>
                  </a:schemeClr>
                </a:solidFill>
                <a:cs typeface="+mn-ea"/>
                <a:sym typeface="+mn-lt"/>
              </a:rPr>
              <a:t>5</a:t>
            </a:r>
            <a:endParaRPr lang="zh-CN" altLang="en-US" sz="3200" dirty="0">
              <a:solidFill>
                <a:schemeClr val="accent1">
                  <a:lumMod val="7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44DD29E8-1C31-7B52-B9FF-0CAE00A1776D}"/>
              </a:ext>
            </a:extLst>
          </p:cNvPr>
          <p:cNvSpPr txBox="1"/>
          <p:nvPr/>
        </p:nvSpPr>
        <p:spPr>
          <a:xfrm>
            <a:off x="1642802" y="793828"/>
            <a:ext cx="2330156" cy="583565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rgbClr val="0070C0"/>
                </a:solidFill>
                <a:cs typeface="+mn-ea"/>
                <a:sym typeface="+mn-lt"/>
              </a:rPr>
              <a:t>研究思路</a:t>
            </a:r>
            <a:endParaRPr lang="en-US" altLang="zh-CN" sz="3200" b="1" dirty="0">
              <a:solidFill>
                <a:srgbClr val="0070C0"/>
              </a:solidFill>
              <a:cs typeface="+mn-ea"/>
              <a:sym typeface="+mn-lt"/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49C0B4E8-A856-9488-6A1B-F8F4B5148A05}"/>
              </a:ext>
            </a:extLst>
          </p:cNvPr>
          <p:cNvSpPr/>
          <p:nvPr/>
        </p:nvSpPr>
        <p:spPr>
          <a:xfrm>
            <a:off x="0" y="6693452"/>
            <a:ext cx="12192000" cy="164287"/>
          </a:xfrm>
          <a:prstGeom prst="rect">
            <a:avLst/>
          </a:prstGeom>
          <a:solidFill>
            <a:srgbClr val="6F8BB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A71822BA-C44D-0089-63B0-B9C84FE81B01}"/>
              </a:ext>
            </a:extLst>
          </p:cNvPr>
          <p:cNvSpPr txBox="1"/>
          <p:nvPr/>
        </p:nvSpPr>
        <p:spPr>
          <a:xfrm>
            <a:off x="2610516" y="3519793"/>
            <a:ext cx="1316477" cy="30777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zh-CN" altLang="en-US" sz="1400" b="1" dirty="0"/>
              <a:t>地面图像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749330C8-25DB-0BAF-BD3D-0A757E8A6AD0}"/>
              </a:ext>
            </a:extLst>
          </p:cNvPr>
          <p:cNvSpPr txBox="1"/>
          <p:nvPr/>
        </p:nvSpPr>
        <p:spPr>
          <a:xfrm>
            <a:off x="1045997" y="3518294"/>
            <a:ext cx="1316477" cy="30777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zh-CN" altLang="en-US" sz="1400" b="1" dirty="0"/>
              <a:t>俯视图像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44CB375D-9700-B3FB-F256-E454C311B716}"/>
              </a:ext>
            </a:extLst>
          </p:cNvPr>
          <p:cNvSpPr txBox="1"/>
          <p:nvPr/>
        </p:nvSpPr>
        <p:spPr>
          <a:xfrm>
            <a:off x="4182000" y="3518293"/>
            <a:ext cx="1013501" cy="30777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zh-CN" altLang="en-US" sz="1400" b="1" dirty="0"/>
              <a:t>语言描述</a:t>
            </a:r>
          </a:p>
        </p:txBody>
      </p:sp>
      <p:sp>
        <p:nvSpPr>
          <p:cNvPr id="20" name="矩形: 圆角 19">
            <a:extLst>
              <a:ext uri="{FF2B5EF4-FFF2-40B4-BE49-F238E27FC236}">
                <a16:creationId xmlns:a16="http://schemas.microsoft.com/office/drawing/2014/main" id="{1F90C015-F6FB-5462-3E00-0E33B3862967}"/>
              </a:ext>
            </a:extLst>
          </p:cNvPr>
          <p:cNvSpPr/>
          <p:nvPr/>
        </p:nvSpPr>
        <p:spPr>
          <a:xfrm>
            <a:off x="648619" y="1971854"/>
            <a:ext cx="4786832" cy="3402322"/>
          </a:xfrm>
          <a:prstGeom prst="roundRect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箭头: 下 5">
            <a:extLst>
              <a:ext uri="{FF2B5EF4-FFF2-40B4-BE49-F238E27FC236}">
                <a16:creationId xmlns:a16="http://schemas.microsoft.com/office/drawing/2014/main" id="{CF12BC6D-5916-D33C-E8E2-CB62FCA8DE89}"/>
              </a:ext>
            </a:extLst>
          </p:cNvPr>
          <p:cNvSpPr/>
          <p:nvPr/>
        </p:nvSpPr>
        <p:spPr>
          <a:xfrm>
            <a:off x="2734964" y="3832151"/>
            <a:ext cx="629055" cy="455579"/>
          </a:xfrm>
          <a:prstGeom prst="downArrow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5E399705-E9A5-F171-9AFC-C6FFA8D0D47C}"/>
              </a:ext>
            </a:extLst>
          </p:cNvPr>
          <p:cNvSpPr/>
          <p:nvPr/>
        </p:nvSpPr>
        <p:spPr>
          <a:xfrm>
            <a:off x="1808050" y="4328590"/>
            <a:ext cx="2467970" cy="603115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solidFill>
                  <a:schemeClr val="tx1"/>
                </a:solidFill>
              </a:rPr>
              <a:t>图像</a:t>
            </a:r>
            <a:r>
              <a:rPr lang="en-US" altLang="zh-CN" b="1" dirty="0">
                <a:solidFill>
                  <a:schemeClr val="tx1"/>
                </a:solidFill>
              </a:rPr>
              <a:t>/</a:t>
            </a:r>
            <a:r>
              <a:rPr lang="zh-CN" altLang="en-US" b="1" dirty="0">
                <a:solidFill>
                  <a:schemeClr val="tx1"/>
                </a:solidFill>
              </a:rPr>
              <a:t>语义编码器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D8F8A654-A014-6F93-5578-C6E9E797D3B0}"/>
              </a:ext>
            </a:extLst>
          </p:cNvPr>
          <p:cNvSpPr txBox="1"/>
          <p:nvPr/>
        </p:nvSpPr>
        <p:spPr>
          <a:xfrm>
            <a:off x="1045995" y="1612870"/>
            <a:ext cx="2160667" cy="33855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zh-CN" altLang="en-US" sz="1600" dirty="0"/>
              <a:t>参考</a:t>
            </a:r>
            <a:r>
              <a:rPr lang="en-US" altLang="zh-CN" sz="1600" dirty="0"/>
              <a:t>GOMAA-Geo[1]</a:t>
            </a:r>
            <a:endParaRPr lang="zh-CN" altLang="en-US" sz="1600" dirty="0"/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DCBCF70E-3C94-69F5-C09E-44BFF868FC62}"/>
              </a:ext>
            </a:extLst>
          </p:cNvPr>
          <p:cNvSpPr txBox="1"/>
          <p:nvPr/>
        </p:nvSpPr>
        <p:spPr>
          <a:xfrm>
            <a:off x="1233226" y="4989609"/>
            <a:ext cx="3670918" cy="338554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zh-CN" altLang="en-US" sz="1600" b="1" dirty="0"/>
              <a:t>将图像</a:t>
            </a:r>
            <a:r>
              <a:rPr lang="en-US" altLang="zh-CN" sz="1600" b="1" dirty="0"/>
              <a:t>-</a:t>
            </a:r>
            <a:r>
              <a:rPr lang="zh-CN" altLang="en-US" sz="1600" b="1" dirty="0"/>
              <a:t>语义信息对齐到同一特征空间</a:t>
            </a:r>
            <a:r>
              <a:rPr lang="en-US" altLang="zh-CN" sz="1600" b="1" dirty="0"/>
              <a:t>S</a:t>
            </a:r>
            <a:endParaRPr lang="zh-CN" altLang="en-US" sz="1600" b="1" dirty="0"/>
          </a:p>
        </p:txBody>
      </p:sp>
      <p:sp>
        <p:nvSpPr>
          <p:cNvPr id="30" name="矩形: 圆角 29">
            <a:extLst>
              <a:ext uri="{FF2B5EF4-FFF2-40B4-BE49-F238E27FC236}">
                <a16:creationId xmlns:a16="http://schemas.microsoft.com/office/drawing/2014/main" id="{182BA8C6-FB20-480C-CD6B-88865D87453F}"/>
              </a:ext>
            </a:extLst>
          </p:cNvPr>
          <p:cNvSpPr/>
          <p:nvPr/>
        </p:nvSpPr>
        <p:spPr>
          <a:xfrm>
            <a:off x="6362365" y="793828"/>
            <a:ext cx="5123690" cy="5447195"/>
          </a:xfrm>
          <a:prstGeom prst="roundRect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箭头: 下 37">
            <a:extLst>
              <a:ext uri="{FF2B5EF4-FFF2-40B4-BE49-F238E27FC236}">
                <a16:creationId xmlns:a16="http://schemas.microsoft.com/office/drawing/2014/main" id="{3F59668C-7F08-08C2-CCED-80E1092D6D93}"/>
              </a:ext>
            </a:extLst>
          </p:cNvPr>
          <p:cNvSpPr/>
          <p:nvPr/>
        </p:nvSpPr>
        <p:spPr>
          <a:xfrm rot="16200000">
            <a:off x="5606155" y="3294453"/>
            <a:ext cx="629055" cy="755454"/>
          </a:xfrm>
          <a:prstGeom prst="downArrow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9" name="矩形: 圆角 38">
            <a:extLst>
              <a:ext uri="{FF2B5EF4-FFF2-40B4-BE49-F238E27FC236}">
                <a16:creationId xmlns:a16="http://schemas.microsoft.com/office/drawing/2014/main" id="{75FB93FA-5C85-52D4-1D12-5FF4D2212EB2}"/>
              </a:ext>
            </a:extLst>
          </p:cNvPr>
          <p:cNvSpPr/>
          <p:nvPr/>
        </p:nvSpPr>
        <p:spPr>
          <a:xfrm>
            <a:off x="7235284" y="3602476"/>
            <a:ext cx="3458791" cy="786835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chemeClr val="tx1"/>
                </a:solidFill>
              </a:rPr>
              <a:t>Transformer</a:t>
            </a:r>
            <a:endParaRPr lang="zh-CN" altLang="en-US" b="1" dirty="0">
              <a:solidFill>
                <a:schemeClr val="tx1"/>
              </a:solidFill>
            </a:endParaRPr>
          </a:p>
        </p:txBody>
      </p:sp>
      <p:sp>
        <p:nvSpPr>
          <p:cNvPr id="42" name="矩形: 圆角 41">
            <a:extLst>
              <a:ext uri="{FF2B5EF4-FFF2-40B4-BE49-F238E27FC236}">
                <a16:creationId xmlns:a16="http://schemas.microsoft.com/office/drawing/2014/main" id="{696032FF-AD18-A307-A284-0CA834DC55FC}"/>
              </a:ext>
            </a:extLst>
          </p:cNvPr>
          <p:cNvSpPr/>
          <p:nvPr/>
        </p:nvSpPr>
        <p:spPr>
          <a:xfrm>
            <a:off x="7251952" y="1641969"/>
            <a:ext cx="3458791" cy="786834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solidFill>
                  <a:schemeClr val="tx1"/>
                </a:solidFill>
              </a:rPr>
              <a:t>强化学习网络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3" name="矩形 42">
                <a:extLst>
                  <a:ext uri="{FF2B5EF4-FFF2-40B4-BE49-F238E27FC236}">
                    <a16:creationId xmlns:a16="http://schemas.microsoft.com/office/drawing/2014/main" id="{58F0B2E9-1791-8FCE-2C10-DEDBFCDC8A3A}"/>
                  </a:ext>
                </a:extLst>
              </p:cNvPr>
              <p:cNvSpPr/>
              <p:nvPr/>
            </p:nvSpPr>
            <p:spPr>
              <a:xfrm>
                <a:off x="7652732" y="4726679"/>
                <a:ext cx="655096" cy="343710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𝑺</m:t>
                          </m:r>
                        </m:e>
                        <m:sub>
                          <m:r>
                            <a:rPr lang="en-US" altLang="zh-CN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𝒈𝒐𝒂𝒍</m:t>
                          </m:r>
                        </m:sub>
                      </m:sSub>
                    </m:oMath>
                  </m:oMathPara>
                </a14:m>
                <a:endParaRPr lang="zh-CN" altLang="en-US" b="1" dirty="0"/>
              </a:p>
            </p:txBody>
          </p:sp>
        </mc:Choice>
        <mc:Fallback xmlns="">
          <p:sp>
            <p:nvSpPr>
              <p:cNvPr id="43" name="矩形 42">
                <a:extLst>
                  <a:ext uri="{FF2B5EF4-FFF2-40B4-BE49-F238E27FC236}">
                    <a16:creationId xmlns:a16="http://schemas.microsoft.com/office/drawing/2014/main" id="{58F0B2E9-1791-8FCE-2C10-DEDBFCDC8A3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52732" y="4726679"/>
                <a:ext cx="655096" cy="343710"/>
              </a:xfrm>
              <a:prstGeom prst="rect">
                <a:avLst/>
              </a:prstGeom>
              <a:blipFill>
                <a:blip r:embed="rId5"/>
                <a:stretch>
                  <a:fillRect l="-5556" b="-17544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矩形 45">
                <a:extLst>
                  <a:ext uri="{FF2B5EF4-FFF2-40B4-BE49-F238E27FC236}">
                    <a16:creationId xmlns:a16="http://schemas.microsoft.com/office/drawing/2014/main" id="{1521F505-6D34-89F3-EF93-F8A16EE3FD0C}"/>
                  </a:ext>
                </a:extLst>
              </p:cNvPr>
              <p:cNvSpPr/>
              <p:nvPr/>
            </p:nvSpPr>
            <p:spPr>
              <a:xfrm>
                <a:off x="8637131" y="4726679"/>
                <a:ext cx="655096" cy="343710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𝑺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CN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t</m:t>
                          </m:r>
                          <m:r>
                            <a:rPr lang="en-US" altLang="zh-CN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zh-CN" altLang="en-US" b="1" dirty="0"/>
              </a:p>
            </p:txBody>
          </p:sp>
        </mc:Choice>
        <mc:Fallback xmlns="">
          <p:sp>
            <p:nvSpPr>
              <p:cNvPr id="46" name="矩形 45">
                <a:extLst>
                  <a:ext uri="{FF2B5EF4-FFF2-40B4-BE49-F238E27FC236}">
                    <a16:creationId xmlns:a16="http://schemas.microsoft.com/office/drawing/2014/main" id="{1521F505-6D34-89F3-EF93-F8A16EE3FD0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37131" y="4726679"/>
                <a:ext cx="655096" cy="343710"/>
              </a:xfrm>
              <a:prstGeom prst="rect">
                <a:avLst/>
              </a:prstGeom>
              <a:blipFill>
                <a:blip r:embed="rId6"/>
                <a:stretch>
                  <a:fillRect b="-5263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矩形 46">
                <a:extLst>
                  <a:ext uri="{FF2B5EF4-FFF2-40B4-BE49-F238E27FC236}">
                    <a16:creationId xmlns:a16="http://schemas.microsoft.com/office/drawing/2014/main" id="{4D5A1035-0178-5237-D724-B00311014320}"/>
                  </a:ext>
                </a:extLst>
              </p:cNvPr>
              <p:cNvSpPr/>
              <p:nvPr/>
            </p:nvSpPr>
            <p:spPr>
              <a:xfrm>
                <a:off x="9621530" y="4726679"/>
                <a:ext cx="655096" cy="343710"/>
              </a:xfrm>
              <a:prstGeom prst="rect">
                <a:avLst/>
              </a:prstGeom>
              <a:solidFill>
                <a:srgbClr val="7CA3C6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0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sz="20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a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CN" sz="20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t</m:t>
                          </m:r>
                          <m:r>
                            <a:rPr lang="en-US" altLang="zh-CN" sz="20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sz="20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zh-CN" altLang="en-US" sz="2000" b="1" dirty="0"/>
              </a:p>
            </p:txBody>
          </p:sp>
        </mc:Choice>
        <mc:Fallback xmlns="">
          <p:sp>
            <p:nvSpPr>
              <p:cNvPr id="47" name="矩形 46">
                <a:extLst>
                  <a:ext uri="{FF2B5EF4-FFF2-40B4-BE49-F238E27FC236}">
                    <a16:creationId xmlns:a16="http://schemas.microsoft.com/office/drawing/2014/main" id="{4D5A1035-0178-5237-D724-B0031101432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21530" y="4726679"/>
                <a:ext cx="655096" cy="343710"/>
              </a:xfrm>
              <a:prstGeom prst="rect">
                <a:avLst/>
              </a:prstGeom>
              <a:blipFill>
                <a:blip r:embed="rId7"/>
                <a:stretch>
                  <a:fillRect b="-10526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9" name="直接箭头连接符 48">
            <a:extLst>
              <a:ext uri="{FF2B5EF4-FFF2-40B4-BE49-F238E27FC236}">
                <a16:creationId xmlns:a16="http://schemas.microsoft.com/office/drawing/2014/main" id="{6CB08E9B-7FF2-EB0B-AC6D-3A6A0379AD60}"/>
              </a:ext>
            </a:extLst>
          </p:cNvPr>
          <p:cNvCxnSpPr>
            <a:cxnSpLocks/>
            <a:stCxn id="43" idx="0"/>
          </p:cNvCxnSpPr>
          <p:nvPr/>
        </p:nvCxnSpPr>
        <p:spPr>
          <a:xfrm flipV="1">
            <a:off x="7980280" y="4389311"/>
            <a:ext cx="0" cy="33736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1" name="直接箭头连接符 50">
            <a:extLst>
              <a:ext uri="{FF2B5EF4-FFF2-40B4-BE49-F238E27FC236}">
                <a16:creationId xmlns:a16="http://schemas.microsoft.com/office/drawing/2014/main" id="{D61D723E-1DD8-CD51-D2B0-23874DAB4F7E}"/>
              </a:ext>
            </a:extLst>
          </p:cNvPr>
          <p:cNvCxnSpPr>
            <a:cxnSpLocks/>
          </p:cNvCxnSpPr>
          <p:nvPr/>
        </p:nvCxnSpPr>
        <p:spPr>
          <a:xfrm flipV="1">
            <a:off x="8964679" y="4389311"/>
            <a:ext cx="0" cy="33736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2" name="直接箭头连接符 51">
            <a:extLst>
              <a:ext uri="{FF2B5EF4-FFF2-40B4-BE49-F238E27FC236}">
                <a16:creationId xmlns:a16="http://schemas.microsoft.com/office/drawing/2014/main" id="{DE6E73E2-2BD1-75D2-BE3B-EAA6D6B20E92}"/>
              </a:ext>
            </a:extLst>
          </p:cNvPr>
          <p:cNvCxnSpPr>
            <a:cxnSpLocks/>
          </p:cNvCxnSpPr>
          <p:nvPr/>
        </p:nvCxnSpPr>
        <p:spPr>
          <a:xfrm flipV="1">
            <a:off x="9949078" y="4395578"/>
            <a:ext cx="0" cy="33736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3" name="文本框 52">
            <a:extLst>
              <a:ext uri="{FF2B5EF4-FFF2-40B4-BE49-F238E27FC236}">
                <a16:creationId xmlns:a16="http://schemas.microsoft.com/office/drawing/2014/main" id="{50E177C7-1D34-E1A6-8128-3643A120AAC3}"/>
              </a:ext>
            </a:extLst>
          </p:cNvPr>
          <p:cNvSpPr txBox="1"/>
          <p:nvPr/>
        </p:nvSpPr>
        <p:spPr>
          <a:xfrm>
            <a:off x="7547987" y="5156136"/>
            <a:ext cx="1013501" cy="30777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zh-CN" altLang="en-US" sz="1400" b="1" dirty="0"/>
              <a:t>目标特征</a:t>
            </a:r>
          </a:p>
        </p:txBody>
      </p:sp>
      <p:sp>
        <p:nvSpPr>
          <p:cNvPr id="54" name="文本框 53">
            <a:extLst>
              <a:ext uri="{FF2B5EF4-FFF2-40B4-BE49-F238E27FC236}">
                <a16:creationId xmlns:a16="http://schemas.microsoft.com/office/drawing/2014/main" id="{3F0F9F30-6FA2-8222-D90D-F74A56499C46}"/>
              </a:ext>
            </a:extLst>
          </p:cNvPr>
          <p:cNvSpPr txBox="1"/>
          <p:nvPr/>
        </p:nvSpPr>
        <p:spPr>
          <a:xfrm>
            <a:off x="8360174" y="5156135"/>
            <a:ext cx="1261356" cy="30777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zh-CN" altLang="en-US" sz="1400" b="1" dirty="0"/>
              <a:t>当前位置特征</a:t>
            </a:r>
          </a:p>
        </p:txBody>
      </p:sp>
      <p:sp>
        <p:nvSpPr>
          <p:cNvPr id="55" name="文本框 54">
            <a:extLst>
              <a:ext uri="{FF2B5EF4-FFF2-40B4-BE49-F238E27FC236}">
                <a16:creationId xmlns:a16="http://schemas.microsoft.com/office/drawing/2014/main" id="{7252E064-04D9-3282-1164-255E927FAA38}"/>
              </a:ext>
            </a:extLst>
          </p:cNvPr>
          <p:cNvSpPr txBox="1"/>
          <p:nvPr/>
        </p:nvSpPr>
        <p:spPr>
          <a:xfrm>
            <a:off x="9501613" y="5156134"/>
            <a:ext cx="1013501" cy="30777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zh-CN" altLang="en-US" sz="1400" b="1" dirty="0"/>
              <a:t>上次动作</a:t>
            </a:r>
          </a:p>
        </p:txBody>
      </p:sp>
      <p:sp>
        <p:nvSpPr>
          <p:cNvPr id="56" name="矩形 55">
            <a:extLst>
              <a:ext uri="{FF2B5EF4-FFF2-40B4-BE49-F238E27FC236}">
                <a16:creationId xmlns:a16="http://schemas.microsoft.com/office/drawing/2014/main" id="{DA73AF90-A6D6-36BE-B052-5E78F84991D6}"/>
              </a:ext>
            </a:extLst>
          </p:cNvPr>
          <p:cNvSpPr/>
          <p:nvPr/>
        </p:nvSpPr>
        <p:spPr>
          <a:xfrm>
            <a:off x="8101114" y="2835651"/>
            <a:ext cx="655096" cy="34371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 dirty="0"/>
          </a:p>
        </p:txBody>
      </p:sp>
      <p:graphicFrame>
        <p:nvGraphicFramePr>
          <p:cNvPr id="61" name="对象 60">
            <a:extLst>
              <a:ext uri="{FF2B5EF4-FFF2-40B4-BE49-F238E27FC236}">
                <a16:creationId xmlns:a16="http://schemas.microsoft.com/office/drawing/2014/main" id="{70E838C3-0CEA-7922-643E-331A2709E65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84407263"/>
              </p:ext>
            </p:extLst>
          </p:nvPr>
        </p:nvGraphicFramePr>
        <p:xfrm>
          <a:off x="8279546" y="2849589"/>
          <a:ext cx="329303" cy="3416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83353" imgH="299301" progId="Equation.DSMT4">
                  <p:embed/>
                </p:oleObj>
              </mc:Choice>
              <mc:Fallback>
                <p:oleObj name="Equation" r:id="rId8" imgW="183353" imgH="299301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8279546" y="2849589"/>
                        <a:ext cx="329303" cy="3416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2" name="文本框 61">
            <a:extLst>
              <a:ext uri="{FF2B5EF4-FFF2-40B4-BE49-F238E27FC236}">
                <a16:creationId xmlns:a16="http://schemas.microsoft.com/office/drawing/2014/main" id="{9BD56A1B-476B-6D1B-0642-E1F766782979}"/>
              </a:ext>
            </a:extLst>
          </p:cNvPr>
          <p:cNvSpPr txBox="1"/>
          <p:nvPr/>
        </p:nvSpPr>
        <p:spPr>
          <a:xfrm>
            <a:off x="7235284" y="2848650"/>
            <a:ext cx="1261356" cy="30777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zh-CN" altLang="en-US" sz="1400" b="1" dirty="0"/>
              <a:t>预测特征</a:t>
            </a:r>
          </a:p>
        </p:txBody>
      </p:sp>
      <p:pic>
        <p:nvPicPr>
          <p:cNvPr id="65" name="图片 64">
            <a:extLst>
              <a:ext uri="{FF2B5EF4-FFF2-40B4-BE49-F238E27FC236}">
                <a16:creationId xmlns:a16="http://schemas.microsoft.com/office/drawing/2014/main" id="{E8B4761C-5539-FF6F-8645-088432FF7E13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664457" y="5463911"/>
            <a:ext cx="650181" cy="673682"/>
          </a:xfrm>
          <a:prstGeom prst="rect">
            <a:avLst/>
          </a:prstGeom>
        </p:spPr>
      </p:pic>
      <p:pic>
        <p:nvPicPr>
          <p:cNvPr id="66" name="图片 65">
            <a:extLst>
              <a:ext uri="{FF2B5EF4-FFF2-40B4-BE49-F238E27FC236}">
                <a16:creationId xmlns:a16="http://schemas.microsoft.com/office/drawing/2014/main" id="{42A78011-4390-DEB9-59F9-C40A510C5F19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652410" y="5435079"/>
            <a:ext cx="676883" cy="731345"/>
          </a:xfrm>
          <a:prstGeom prst="rect">
            <a:avLst/>
          </a:prstGeom>
        </p:spPr>
      </p:pic>
      <p:pic>
        <p:nvPicPr>
          <p:cNvPr id="67" name="图片 66">
            <a:extLst>
              <a:ext uri="{FF2B5EF4-FFF2-40B4-BE49-F238E27FC236}">
                <a16:creationId xmlns:a16="http://schemas.microsoft.com/office/drawing/2014/main" id="{7F4FB417-91A5-38A4-A73E-81E2E08C735B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BEBA8EAE-BF5A-486C-A8C5-ECC9F3942E4B}">
                <a14:imgProps xmlns:a14="http://schemas.microsoft.com/office/drawing/2010/main">
                  <a14:imgLayer r:embed="rId13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689244" y="5562984"/>
            <a:ext cx="574702" cy="385559"/>
          </a:xfrm>
          <a:prstGeom prst="rect">
            <a:avLst/>
          </a:prstGeom>
        </p:spPr>
      </p:pic>
      <p:cxnSp>
        <p:nvCxnSpPr>
          <p:cNvPr id="69" name="直接箭头连接符 68">
            <a:extLst>
              <a:ext uri="{FF2B5EF4-FFF2-40B4-BE49-F238E27FC236}">
                <a16:creationId xmlns:a16="http://schemas.microsoft.com/office/drawing/2014/main" id="{A998CB1B-04A1-9430-090A-D97652AB195F}"/>
              </a:ext>
            </a:extLst>
          </p:cNvPr>
          <p:cNvCxnSpPr>
            <a:cxnSpLocks/>
            <a:endCxn id="56" idx="2"/>
          </p:cNvCxnSpPr>
          <p:nvPr/>
        </p:nvCxnSpPr>
        <p:spPr>
          <a:xfrm flipV="1">
            <a:off x="8428662" y="3179361"/>
            <a:ext cx="0" cy="42949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3" name="直接箭头连接符 72">
            <a:extLst>
              <a:ext uri="{FF2B5EF4-FFF2-40B4-BE49-F238E27FC236}">
                <a16:creationId xmlns:a16="http://schemas.microsoft.com/office/drawing/2014/main" id="{C99FB3FD-3879-F737-CE99-67AF6D6FBBAC}"/>
              </a:ext>
            </a:extLst>
          </p:cNvPr>
          <p:cNvCxnSpPr>
            <a:cxnSpLocks/>
          </p:cNvCxnSpPr>
          <p:nvPr/>
        </p:nvCxnSpPr>
        <p:spPr>
          <a:xfrm flipV="1">
            <a:off x="9501613" y="2428803"/>
            <a:ext cx="0" cy="117367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6" name="矩形 75">
                <a:extLst>
                  <a:ext uri="{FF2B5EF4-FFF2-40B4-BE49-F238E27FC236}">
                    <a16:creationId xmlns:a16="http://schemas.microsoft.com/office/drawing/2014/main" id="{E1B9B689-69A2-5664-0F6F-4D9B62042ABD}"/>
                  </a:ext>
                </a:extLst>
              </p:cNvPr>
              <p:cNvSpPr/>
              <p:nvPr/>
            </p:nvSpPr>
            <p:spPr>
              <a:xfrm>
                <a:off x="8652410" y="954606"/>
                <a:ext cx="655096" cy="343710"/>
              </a:xfrm>
              <a:prstGeom prst="rect">
                <a:avLst/>
              </a:prstGeom>
              <a:solidFill>
                <a:srgbClr val="7CA3C6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0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sz="20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a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CN" sz="20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t</m:t>
                          </m:r>
                        </m:sub>
                      </m:sSub>
                    </m:oMath>
                  </m:oMathPara>
                </a14:m>
                <a:endParaRPr lang="zh-CN" altLang="en-US" sz="2000" b="1" dirty="0"/>
              </a:p>
            </p:txBody>
          </p:sp>
        </mc:Choice>
        <mc:Fallback xmlns="">
          <p:sp>
            <p:nvSpPr>
              <p:cNvPr id="76" name="矩形 75">
                <a:extLst>
                  <a:ext uri="{FF2B5EF4-FFF2-40B4-BE49-F238E27FC236}">
                    <a16:creationId xmlns:a16="http://schemas.microsoft.com/office/drawing/2014/main" id="{E1B9B689-69A2-5664-0F6F-4D9B62042AB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52410" y="954606"/>
                <a:ext cx="655096" cy="343710"/>
              </a:xfrm>
              <a:prstGeom prst="rect">
                <a:avLst/>
              </a:prstGeom>
              <a:blipFill>
                <a:blip r:embed="rId14"/>
                <a:stretch>
                  <a:fillRect b="-10714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8" name="直接箭头连接符 77">
            <a:extLst>
              <a:ext uri="{FF2B5EF4-FFF2-40B4-BE49-F238E27FC236}">
                <a16:creationId xmlns:a16="http://schemas.microsoft.com/office/drawing/2014/main" id="{99CD8C39-B96E-7762-656C-DA8AE5DF0C60}"/>
              </a:ext>
            </a:extLst>
          </p:cNvPr>
          <p:cNvCxnSpPr>
            <a:cxnSpLocks/>
            <a:stCxn id="42" idx="0"/>
            <a:endCxn id="76" idx="2"/>
          </p:cNvCxnSpPr>
          <p:nvPr/>
        </p:nvCxnSpPr>
        <p:spPr>
          <a:xfrm flipH="1" flipV="1">
            <a:off x="8979958" y="1298316"/>
            <a:ext cx="1390" cy="34365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2" name="文本框 81">
            <a:extLst>
              <a:ext uri="{FF2B5EF4-FFF2-40B4-BE49-F238E27FC236}">
                <a16:creationId xmlns:a16="http://schemas.microsoft.com/office/drawing/2014/main" id="{5F31C3CC-00A9-2D4A-BC43-50D41872C7B7}"/>
              </a:ext>
            </a:extLst>
          </p:cNvPr>
          <p:cNvSpPr txBox="1"/>
          <p:nvPr/>
        </p:nvSpPr>
        <p:spPr>
          <a:xfrm>
            <a:off x="9339295" y="972572"/>
            <a:ext cx="1013501" cy="30777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zh-CN" altLang="en-US" sz="1400" b="1" dirty="0"/>
              <a:t>下次动作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29D69B18-FE3F-07D1-1517-1305BCE1B780}"/>
              </a:ext>
            </a:extLst>
          </p:cNvPr>
          <p:cNvSpPr txBox="1"/>
          <p:nvPr/>
        </p:nvSpPr>
        <p:spPr>
          <a:xfrm>
            <a:off x="2610515" y="1969991"/>
            <a:ext cx="1316477" cy="33855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zh-CN" altLang="en-US" sz="1600" b="1" dirty="0"/>
              <a:t>特征表达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320ED15E-DF0C-F1F0-0B1F-D67790D0EB3A}"/>
              </a:ext>
            </a:extLst>
          </p:cNvPr>
          <p:cNvSpPr txBox="1"/>
          <p:nvPr/>
        </p:nvSpPr>
        <p:spPr>
          <a:xfrm>
            <a:off x="0" y="6445368"/>
            <a:ext cx="12325246" cy="246221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zh-CN" sz="1000" dirty="0"/>
              <a:t>[1]Sarkar, Anindya, et al. "Gomaa-geo: Goal modality agnostic active geo-localization." Advances in Neural Information Processing Systems 37 (2024): 104934-104964.</a:t>
            </a:r>
            <a:endParaRPr lang="zh-CN" altLang="en-US" sz="1000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916FF895-F98C-E0B9-6D45-B32B5365A63C}"/>
              </a:ext>
            </a:extLst>
          </p:cNvPr>
          <p:cNvSpPr txBox="1"/>
          <p:nvPr/>
        </p:nvSpPr>
        <p:spPr>
          <a:xfrm>
            <a:off x="8496640" y="454805"/>
            <a:ext cx="1316477" cy="33855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zh-CN" altLang="en-US" sz="1600" b="1" dirty="0"/>
              <a:t>动作预测</a:t>
            </a:r>
          </a:p>
        </p:txBody>
      </p:sp>
    </p:spTree>
    <p:extLst>
      <p:ext uri="{BB962C8B-B14F-4D97-AF65-F5344CB8AC3E}">
        <p14:creationId xmlns:p14="http://schemas.microsoft.com/office/powerpoint/2010/main" val="28233220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9AD563-AB5D-3B22-99DB-D2227362EB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矩形 15">
            <a:extLst>
              <a:ext uri="{FF2B5EF4-FFF2-40B4-BE49-F238E27FC236}">
                <a16:creationId xmlns:a16="http://schemas.microsoft.com/office/drawing/2014/main" id="{0610C943-1B25-B2FE-141F-642918EE5E67}"/>
              </a:ext>
            </a:extLst>
          </p:cNvPr>
          <p:cNvSpPr/>
          <p:nvPr/>
        </p:nvSpPr>
        <p:spPr>
          <a:xfrm>
            <a:off x="0" y="155115"/>
            <a:ext cx="1655328" cy="257314"/>
          </a:xfrm>
          <a:prstGeom prst="rect">
            <a:avLst/>
          </a:prstGeom>
          <a:solidFill>
            <a:srgbClr val="6F8BB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70480A5E-9AEF-A586-F3F1-CDED8B49BE0B}"/>
              </a:ext>
            </a:extLst>
          </p:cNvPr>
          <p:cNvSpPr/>
          <p:nvPr/>
        </p:nvSpPr>
        <p:spPr>
          <a:xfrm>
            <a:off x="0" y="1614"/>
            <a:ext cx="12192000" cy="164287"/>
          </a:xfrm>
          <a:prstGeom prst="rect">
            <a:avLst/>
          </a:prstGeom>
          <a:solidFill>
            <a:srgbClr val="6F8BB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277CEAC-50D8-BC4E-E76D-61224AACD240}"/>
              </a:ext>
            </a:extLst>
          </p:cNvPr>
          <p:cNvSpPr txBox="1"/>
          <p:nvPr/>
        </p:nvSpPr>
        <p:spPr>
          <a:xfrm>
            <a:off x="142816" y="65238"/>
            <a:ext cx="20955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bg1"/>
                </a:solidFill>
                <a:cs typeface="+mn-ea"/>
                <a:sym typeface="+mn-lt"/>
              </a:rPr>
              <a:t>Presentation</a:t>
            </a:r>
            <a:endParaRPr lang="zh-CN" altLang="en-US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1BE78405-420E-2BB2-C8C6-B02ED79471F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9917" y="617901"/>
            <a:ext cx="915835" cy="867277"/>
          </a:xfrm>
          <a:prstGeom prst="rect">
            <a:avLst/>
          </a:prstGeo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BAC0E395-60FC-2F9B-532B-5ABEDA524462}"/>
              </a:ext>
            </a:extLst>
          </p:cNvPr>
          <p:cNvSpPr txBox="1"/>
          <p:nvPr/>
        </p:nvSpPr>
        <p:spPr>
          <a:xfrm>
            <a:off x="600330" y="759151"/>
            <a:ext cx="37500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dirty="0">
                <a:solidFill>
                  <a:schemeClr val="accent1">
                    <a:lumMod val="75000"/>
                  </a:schemeClr>
                </a:solidFill>
                <a:cs typeface="+mn-ea"/>
                <a:sym typeface="+mn-lt"/>
              </a:rPr>
              <a:t>6</a:t>
            </a:r>
            <a:endParaRPr lang="zh-CN" altLang="en-US" sz="3200" dirty="0">
              <a:solidFill>
                <a:schemeClr val="accent1">
                  <a:lumMod val="7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2845D9BD-1EA8-67B8-AEEF-B50184D182A6}"/>
              </a:ext>
            </a:extLst>
          </p:cNvPr>
          <p:cNvSpPr txBox="1"/>
          <p:nvPr/>
        </p:nvSpPr>
        <p:spPr>
          <a:xfrm>
            <a:off x="1655328" y="793828"/>
            <a:ext cx="2330156" cy="583565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rgbClr val="0070C0"/>
                </a:solidFill>
                <a:cs typeface="+mn-ea"/>
                <a:sym typeface="+mn-lt"/>
              </a:rPr>
              <a:t>创新点</a:t>
            </a:r>
            <a:endParaRPr lang="en-US" altLang="zh-CN" sz="3200" b="1" dirty="0">
              <a:solidFill>
                <a:srgbClr val="0070C0"/>
              </a:solidFill>
              <a:cs typeface="+mn-ea"/>
              <a:sym typeface="+mn-lt"/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8708B3B2-D1B2-8307-7D4E-E164D10FC86F}"/>
              </a:ext>
            </a:extLst>
          </p:cNvPr>
          <p:cNvSpPr/>
          <p:nvPr/>
        </p:nvSpPr>
        <p:spPr>
          <a:xfrm>
            <a:off x="0" y="6693452"/>
            <a:ext cx="12192000" cy="164287"/>
          </a:xfrm>
          <a:prstGeom prst="rect">
            <a:avLst/>
          </a:prstGeom>
          <a:solidFill>
            <a:srgbClr val="6F8BB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982F0E19-3D60-0824-B1AE-B3CA236DA01E}"/>
              </a:ext>
            </a:extLst>
          </p:cNvPr>
          <p:cNvSpPr/>
          <p:nvPr/>
        </p:nvSpPr>
        <p:spPr>
          <a:xfrm>
            <a:off x="1245752" y="1588851"/>
            <a:ext cx="3333344" cy="4325566"/>
          </a:xfrm>
          <a:prstGeom prst="roundRect">
            <a:avLst/>
          </a:prstGeom>
          <a:noFill/>
          <a:ln w="28575">
            <a:solidFill>
              <a:srgbClr val="7CA3C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箭头: 右 6">
            <a:extLst>
              <a:ext uri="{FF2B5EF4-FFF2-40B4-BE49-F238E27FC236}">
                <a16:creationId xmlns:a16="http://schemas.microsoft.com/office/drawing/2014/main" id="{B776DDBF-7B5F-B780-6460-D22C471D6567}"/>
              </a:ext>
            </a:extLst>
          </p:cNvPr>
          <p:cNvSpPr/>
          <p:nvPr/>
        </p:nvSpPr>
        <p:spPr>
          <a:xfrm>
            <a:off x="4950147" y="4460132"/>
            <a:ext cx="1031132" cy="621724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A465E848-1205-59D5-93CF-427B51A0D6B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9337" y="1760128"/>
            <a:ext cx="1992953" cy="1545154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B531F8AD-CBDD-747A-AF64-3DE33B248F4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34070" y="1799494"/>
            <a:ext cx="1992954" cy="1466420"/>
          </a:xfrm>
          <a:prstGeom prst="rect">
            <a:avLst/>
          </a:prstGeom>
        </p:spPr>
      </p:pic>
      <p:sp>
        <p:nvSpPr>
          <p:cNvPr id="10" name="矩形: 圆角 9">
            <a:extLst>
              <a:ext uri="{FF2B5EF4-FFF2-40B4-BE49-F238E27FC236}">
                <a16:creationId xmlns:a16="http://schemas.microsoft.com/office/drawing/2014/main" id="{2B6305AF-9813-2AF6-1A34-4FE6A55AB543}"/>
              </a:ext>
            </a:extLst>
          </p:cNvPr>
          <p:cNvSpPr/>
          <p:nvPr/>
        </p:nvSpPr>
        <p:spPr>
          <a:xfrm>
            <a:off x="6345475" y="1588851"/>
            <a:ext cx="5045413" cy="4325566"/>
          </a:xfrm>
          <a:prstGeom prst="roundRect">
            <a:avLst/>
          </a:prstGeom>
          <a:noFill/>
          <a:ln w="28575">
            <a:solidFill>
              <a:srgbClr val="7CA3C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加号 10">
            <a:extLst>
              <a:ext uri="{FF2B5EF4-FFF2-40B4-BE49-F238E27FC236}">
                <a16:creationId xmlns:a16="http://schemas.microsoft.com/office/drawing/2014/main" id="{4F2BB1AD-09DB-E46B-5701-B3DE54B972F6}"/>
              </a:ext>
            </a:extLst>
          </p:cNvPr>
          <p:cNvSpPr/>
          <p:nvPr/>
        </p:nvSpPr>
        <p:spPr>
          <a:xfrm>
            <a:off x="8602291" y="2279720"/>
            <a:ext cx="531779" cy="505967"/>
          </a:xfrm>
          <a:prstGeom prst="mathPlus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FA6FE117-BF67-CD8D-C8DA-29325D1659E5}"/>
              </a:ext>
            </a:extLst>
          </p:cNvPr>
          <p:cNvSpPr/>
          <p:nvPr/>
        </p:nvSpPr>
        <p:spPr>
          <a:xfrm>
            <a:off x="2530840" y="835798"/>
            <a:ext cx="6489943" cy="4996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1" algn="ctr" defTabSz="1422364">
              <a:lnSpc>
                <a:spcPct val="150000"/>
              </a:lnSpc>
              <a:spcBef>
                <a:spcPct val="0"/>
              </a:spcBef>
              <a:spcAft>
                <a:spcPct val="15000"/>
              </a:spcAft>
            </a:pPr>
            <a:r>
              <a:rPr lang="zh-CN" altLang="en-US" sz="2000" b="1" dirty="0">
                <a:solidFill>
                  <a:srgbClr val="0070C0"/>
                </a:solidFill>
              </a:rPr>
              <a:t>引入好奇心驱动的混合奖励函数</a:t>
            </a:r>
            <a:endParaRPr lang="zh-CN" altLang="en-US" sz="2000" b="1" i="0" dirty="0">
              <a:solidFill>
                <a:srgbClr val="0070C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箭头: 右 12">
            <a:extLst>
              <a:ext uri="{FF2B5EF4-FFF2-40B4-BE49-F238E27FC236}">
                <a16:creationId xmlns:a16="http://schemas.microsoft.com/office/drawing/2014/main" id="{CE09AD61-FBD7-D1CA-F922-9865997E66ED}"/>
              </a:ext>
            </a:extLst>
          </p:cNvPr>
          <p:cNvSpPr/>
          <p:nvPr/>
        </p:nvSpPr>
        <p:spPr>
          <a:xfrm>
            <a:off x="4950147" y="2226812"/>
            <a:ext cx="1031132" cy="621724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F3DE2A16-F14A-DB28-C69C-1703671A581B}"/>
              </a:ext>
            </a:extLst>
          </p:cNvPr>
          <p:cNvSpPr/>
          <p:nvPr/>
        </p:nvSpPr>
        <p:spPr>
          <a:xfrm>
            <a:off x="1284389" y="3283748"/>
            <a:ext cx="3256069" cy="23387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1" defTabSz="1422364">
              <a:lnSpc>
                <a:spcPct val="150000"/>
              </a:lnSpc>
              <a:spcBef>
                <a:spcPct val="0"/>
              </a:spcBef>
              <a:spcAft>
                <a:spcPct val="15000"/>
              </a:spcAft>
            </a:pPr>
            <a:r>
              <a:rPr lang="zh-CN" altLang="en-US" sz="1600" b="1" i="0" dirty="0">
                <a:solidFill>
                  <a:srgbClr val="0070C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目标引导反馈：</a:t>
            </a:r>
            <a:endParaRPr lang="en-US" altLang="zh-CN" sz="1600" b="1" i="0" dirty="0">
              <a:solidFill>
                <a:srgbClr val="0070C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lvl="1" indent="-285750" defTabSz="1422364">
              <a:lnSpc>
                <a:spcPct val="150000"/>
              </a:lnSpc>
              <a:spcBef>
                <a:spcPct val="0"/>
              </a:spcBef>
              <a:spcAft>
                <a:spcPct val="15000"/>
              </a:spcAft>
              <a:buFont typeface="Arial" panose="020B0604020202020204" pitchFamily="34" charset="0"/>
              <a:buChar char="•"/>
            </a:pPr>
            <a:r>
              <a:rPr lang="zh-CN" altLang="en-US" sz="1600" b="1" i="0" dirty="0">
                <a:solidFill>
                  <a:srgbClr val="24292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根据当前位置与目标真值之间的距离进行奖励</a:t>
            </a:r>
            <a:endParaRPr lang="en-US" altLang="zh-CN" sz="1600" b="1" i="0" dirty="0">
              <a:solidFill>
                <a:srgbClr val="24292F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lvl="1" indent="-285750" defTabSz="1422364">
              <a:lnSpc>
                <a:spcPct val="150000"/>
              </a:lnSpc>
              <a:spcBef>
                <a:spcPct val="0"/>
              </a:spcBef>
              <a:spcAft>
                <a:spcPct val="15000"/>
              </a:spcAft>
              <a:buFont typeface="Arial" panose="020B0604020202020204" pitchFamily="34" charset="0"/>
              <a:buChar char="•"/>
            </a:pPr>
            <a:r>
              <a:rPr lang="zh-CN" altLang="en-US" sz="1600" b="1" dirty="0">
                <a:solidFill>
                  <a:srgbClr val="24292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高度依赖跨模态特征匹配质量；奖励信号稀疏，探索效率低，泛化能力差</a:t>
            </a:r>
            <a:endParaRPr lang="zh-CN" altLang="en-US" sz="1600" b="1" i="0" dirty="0">
              <a:solidFill>
                <a:srgbClr val="24292F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F2F43F5D-AA66-6BDE-CCB5-628940507AD5}"/>
              </a:ext>
            </a:extLst>
          </p:cNvPr>
          <p:cNvSpPr/>
          <p:nvPr/>
        </p:nvSpPr>
        <p:spPr>
          <a:xfrm>
            <a:off x="6609337" y="3312919"/>
            <a:ext cx="4676284" cy="23756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1" defTabSz="1422364">
              <a:lnSpc>
                <a:spcPct val="150000"/>
              </a:lnSpc>
              <a:spcBef>
                <a:spcPct val="0"/>
              </a:spcBef>
              <a:spcAft>
                <a:spcPct val="15000"/>
              </a:spcAft>
            </a:pPr>
            <a:r>
              <a:rPr lang="zh-CN" altLang="en-US" sz="16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混合奖励反馈</a:t>
            </a:r>
            <a:r>
              <a:rPr lang="zh-CN" altLang="en-US" sz="1600" b="1" i="0" dirty="0">
                <a:solidFill>
                  <a:srgbClr val="0070C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endParaRPr lang="en-US" altLang="zh-CN" sz="1600" b="1" i="0" dirty="0">
              <a:solidFill>
                <a:srgbClr val="0070C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lvl="1" indent="-285750" defTabSz="1422364">
              <a:lnSpc>
                <a:spcPct val="150000"/>
              </a:lnSpc>
              <a:spcBef>
                <a:spcPct val="0"/>
              </a:spcBef>
              <a:spcAft>
                <a:spcPct val="15000"/>
              </a:spcAft>
              <a:buFont typeface="Arial" panose="020B0604020202020204" pitchFamily="34" charset="0"/>
              <a:buChar char="•"/>
            </a:pPr>
            <a:r>
              <a:rPr lang="zh-CN" altLang="en-US" sz="1600" b="1" i="0" dirty="0">
                <a:solidFill>
                  <a:srgbClr val="24292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在目标引导的外部反馈基础上，</a:t>
            </a:r>
            <a:r>
              <a:rPr lang="zh-CN" altLang="en-US" sz="1600" b="1" dirty="0">
                <a:solidFill>
                  <a:srgbClr val="24292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引入内在好奇心奖励</a:t>
            </a:r>
            <a:endParaRPr lang="en-US" altLang="zh-CN" sz="1600" b="1" dirty="0">
              <a:solidFill>
                <a:srgbClr val="24292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lvl="1" indent="-285750" defTabSz="1422364">
              <a:lnSpc>
                <a:spcPct val="150000"/>
              </a:lnSpc>
              <a:spcBef>
                <a:spcPct val="0"/>
              </a:spcBef>
              <a:spcAft>
                <a:spcPct val="15000"/>
              </a:spcAft>
              <a:buFont typeface="Arial" panose="020B0604020202020204" pitchFamily="34" charset="0"/>
              <a:buChar char="•"/>
            </a:pPr>
            <a:r>
              <a:rPr lang="zh-CN" altLang="en-US" sz="1600" b="1" dirty="0">
                <a:solidFill>
                  <a:srgbClr val="24292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通过量化无人机对环境感知的预测误差，激励其主动探索未见区域</a:t>
            </a:r>
            <a:endParaRPr lang="en-US" altLang="zh-CN" sz="1600" b="1" dirty="0">
              <a:solidFill>
                <a:srgbClr val="24292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lvl="1" indent="-285750" defTabSz="1422364">
              <a:lnSpc>
                <a:spcPct val="150000"/>
              </a:lnSpc>
              <a:spcBef>
                <a:spcPct val="0"/>
              </a:spcBef>
              <a:spcAft>
                <a:spcPct val="15000"/>
              </a:spcAft>
              <a:buFont typeface="Arial" panose="020B0604020202020204" pitchFamily="34" charset="0"/>
              <a:buChar char="•"/>
            </a:pPr>
            <a:r>
              <a:rPr lang="zh-CN" altLang="en-US" sz="1600" b="1" i="0" dirty="0">
                <a:solidFill>
                  <a:srgbClr val="24292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主动探索</a:t>
            </a:r>
            <a:r>
              <a:rPr lang="zh-CN" altLang="en-US" sz="1600" b="1" dirty="0">
                <a:solidFill>
                  <a:srgbClr val="24292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，泛化能力强</a:t>
            </a:r>
            <a:endParaRPr lang="zh-CN" altLang="en-US" sz="1600" b="1" i="0" dirty="0">
              <a:solidFill>
                <a:srgbClr val="24292F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2" name="图片 21">
            <a:extLst>
              <a:ext uri="{FF2B5EF4-FFF2-40B4-BE49-F238E27FC236}">
                <a16:creationId xmlns:a16="http://schemas.microsoft.com/office/drawing/2014/main" id="{F61DE522-4CE8-4732-5709-DB923574813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15946" y="1767765"/>
            <a:ext cx="1992953" cy="15451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9924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B21982-E25D-54F2-3286-3B1B490324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图片 27">
            <a:extLst>
              <a:ext uri="{FF2B5EF4-FFF2-40B4-BE49-F238E27FC236}">
                <a16:creationId xmlns:a16="http://schemas.microsoft.com/office/drawing/2014/main" id="{9A019F0B-8109-7CBE-0E15-AC62943AA5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37571" y="1889095"/>
            <a:ext cx="3770150" cy="1286342"/>
          </a:xfrm>
          <a:prstGeom prst="rect">
            <a:avLst/>
          </a:prstGeom>
        </p:spPr>
      </p:pic>
      <p:sp>
        <p:nvSpPr>
          <p:cNvPr id="16" name="矩形 15">
            <a:extLst>
              <a:ext uri="{FF2B5EF4-FFF2-40B4-BE49-F238E27FC236}">
                <a16:creationId xmlns:a16="http://schemas.microsoft.com/office/drawing/2014/main" id="{6AAA75C2-BB81-4B43-0BE6-395778D02C6E}"/>
              </a:ext>
            </a:extLst>
          </p:cNvPr>
          <p:cNvSpPr/>
          <p:nvPr/>
        </p:nvSpPr>
        <p:spPr>
          <a:xfrm>
            <a:off x="0" y="155115"/>
            <a:ext cx="1655328" cy="257314"/>
          </a:xfrm>
          <a:prstGeom prst="rect">
            <a:avLst/>
          </a:prstGeom>
          <a:solidFill>
            <a:srgbClr val="6F8BB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6A784EAC-004F-7B15-BB87-A19ED2958945}"/>
              </a:ext>
            </a:extLst>
          </p:cNvPr>
          <p:cNvSpPr/>
          <p:nvPr/>
        </p:nvSpPr>
        <p:spPr>
          <a:xfrm>
            <a:off x="0" y="1614"/>
            <a:ext cx="12192000" cy="164287"/>
          </a:xfrm>
          <a:prstGeom prst="rect">
            <a:avLst/>
          </a:prstGeom>
          <a:solidFill>
            <a:srgbClr val="6F8BB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F2D0BECF-AA49-88AC-5F58-45EE61B974E4}"/>
              </a:ext>
            </a:extLst>
          </p:cNvPr>
          <p:cNvSpPr txBox="1"/>
          <p:nvPr/>
        </p:nvSpPr>
        <p:spPr>
          <a:xfrm>
            <a:off x="142816" y="65238"/>
            <a:ext cx="20955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bg1"/>
                </a:solidFill>
                <a:cs typeface="+mn-ea"/>
                <a:sym typeface="+mn-lt"/>
              </a:rPr>
              <a:t>Presentation</a:t>
            </a:r>
            <a:endParaRPr lang="zh-CN" altLang="en-US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1DE53B14-9E79-E3AA-5B10-D86A75994C2C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9917" y="617901"/>
            <a:ext cx="915835" cy="867277"/>
          </a:xfrm>
          <a:prstGeom prst="rect">
            <a:avLst/>
          </a:prstGeo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15C0EE2F-099F-1FEF-9668-9BA9133C944D}"/>
              </a:ext>
            </a:extLst>
          </p:cNvPr>
          <p:cNvSpPr txBox="1"/>
          <p:nvPr/>
        </p:nvSpPr>
        <p:spPr>
          <a:xfrm>
            <a:off x="600330" y="759151"/>
            <a:ext cx="37500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dirty="0">
                <a:solidFill>
                  <a:schemeClr val="accent1">
                    <a:lumMod val="75000"/>
                  </a:schemeClr>
                </a:solidFill>
                <a:cs typeface="+mn-ea"/>
                <a:sym typeface="+mn-lt"/>
              </a:rPr>
              <a:t>6</a:t>
            </a:r>
            <a:endParaRPr lang="zh-CN" altLang="en-US" sz="3200" dirty="0">
              <a:solidFill>
                <a:schemeClr val="accent1">
                  <a:lumMod val="7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784D4DC2-5BB6-BCD9-A465-5C0B3D81D50A}"/>
              </a:ext>
            </a:extLst>
          </p:cNvPr>
          <p:cNvSpPr txBox="1"/>
          <p:nvPr/>
        </p:nvSpPr>
        <p:spPr>
          <a:xfrm>
            <a:off x="1655328" y="793828"/>
            <a:ext cx="2330156" cy="583565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rgbClr val="0070C0"/>
                </a:solidFill>
                <a:cs typeface="+mn-ea"/>
                <a:sym typeface="+mn-lt"/>
              </a:rPr>
              <a:t>创新点</a:t>
            </a:r>
            <a:endParaRPr lang="en-US" altLang="zh-CN" sz="3200" b="1" dirty="0">
              <a:solidFill>
                <a:srgbClr val="0070C0"/>
              </a:solidFill>
              <a:cs typeface="+mn-ea"/>
              <a:sym typeface="+mn-lt"/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B1C60A57-E1F9-2143-0C1F-5B1D5D095222}"/>
              </a:ext>
            </a:extLst>
          </p:cNvPr>
          <p:cNvSpPr/>
          <p:nvPr/>
        </p:nvSpPr>
        <p:spPr>
          <a:xfrm>
            <a:off x="0" y="6693452"/>
            <a:ext cx="12192000" cy="164287"/>
          </a:xfrm>
          <a:prstGeom prst="rect">
            <a:avLst/>
          </a:prstGeom>
          <a:solidFill>
            <a:srgbClr val="6F8BB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9BEE2CBD-2ED0-6E23-25BC-7E7024C036D5}"/>
              </a:ext>
            </a:extLst>
          </p:cNvPr>
          <p:cNvSpPr/>
          <p:nvPr/>
        </p:nvSpPr>
        <p:spPr>
          <a:xfrm>
            <a:off x="837191" y="1626428"/>
            <a:ext cx="4344410" cy="4325566"/>
          </a:xfrm>
          <a:prstGeom prst="roundRect">
            <a:avLst/>
          </a:prstGeom>
          <a:noFill/>
          <a:ln w="28575">
            <a:solidFill>
              <a:srgbClr val="7CA3C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箭头: 右 6">
            <a:extLst>
              <a:ext uri="{FF2B5EF4-FFF2-40B4-BE49-F238E27FC236}">
                <a16:creationId xmlns:a16="http://schemas.microsoft.com/office/drawing/2014/main" id="{1AB6AFE1-A1C9-5B92-9C21-5ACEF3096CF8}"/>
              </a:ext>
            </a:extLst>
          </p:cNvPr>
          <p:cNvSpPr/>
          <p:nvPr/>
        </p:nvSpPr>
        <p:spPr>
          <a:xfrm>
            <a:off x="5650455" y="4348587"/>
            <a:ext cx="1031132" cy="621724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413B3AD4-7DAD-B6C4-8DED-5E8B3AB8CB31}"/>
              </a:ext>
            </a:extLst>
          </p:cNvPr>
          <p:cNvSpPr/>
          <p:nvPr/>
        </p:nvSpPr>
        <p:spPr>
          <a:xfrm>
            <a:off x="2851028" y="852254"/>
            <a:ext cx="6489943" cy="4996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1" algn="ctr" defTabSz="1422364">
              <a:lnSpc>
                <a:spcPct val="150000"/>
              </a:lnSpc>
              <a:spcBef>
                <a:spcPct val="0"/>
              </a:spcBef>
              <a:spcAft>
                <a:spcPct val="15000"/>
              </a:spcAft>
            </a:pPr>
            <a:r>
              <a:rPr lang="zh-CN" altLang="en-US" sz="2000" b="1" dirty="0">
                <a:solidFill>
                  <a:srgbClr val="0070C0"/>
                </a:solidFill>
              </a:rPr>
              <a:t>动作</a:t>
            </a:r>
            <a:r>
              <a:rPr lang="en-US" altLang="zh-CN" sz="2000" b="1" dirty="0">
                <a:solidFill>
                  <a:srgbClr val="0070C0"/>
                </a:solidFill>
              </a:rPr>
              <a:t>-</a:t>
            </a:r>
            <a:r>
              <a:rPr lang="zh-CN" altLang="en-US" sz="2000" b="1" dirty="0">
                <a:solidFill>
                  <a:srgbClr val="0070C0"/>
                </a:solidFill>
              </a:rPr>
              <a:t>状态动态建模</a:t>
            </a:r>
            <a:endParaRPr lang="zh-CN" altLang="en-US" sz="2000" b="1" i="0" dirty="0">
              <a:solidFill>
                <a:srgbClr val="0070C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箭头: 右 12">
            <a:extLst>
              <a:ext uri="{FF2B5EF4-FFF2-40B4-BE49-F238E27FC236}">
                <a16:creationId xmlns:a16="http://schemas.microsoft.com/office/drawing/2014/main" id="{E6E7AF2F-9EFF-F972-4CC9-72783C9B1DAE}"/>
              </a:ext>
            </a:extLst>
          </p:cNvPr>
          <p:cNvSpPr/>
          <p:nvPr/>
        </p:nvSpPr>
        <p:spPr>
          <a:xfrm>
            <a:off x="5650455" y="2168357"/>
            <a:ext cx="1031132" cy="621724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0DA792E7-CD59-B143-BC3A-5AA3956C4BAC}"/>
              </a:ext>
            </a:extLst>
          </p:cNvPr>
          <p:cNvSpPr/>
          <p:nvPr/>
        </p:nvSpPr>
        <p:spPr>
          <a:xfrm>
            <a:off x="937108" y="3321325"/>
            <a:ext cx="4143644" cy="23387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1" defTabSz="1422364">
              <a:lnSpc>
                <a:spcPct val="150000"/>
              </a:lnSpc>
              <a:spcBef>
                <a:spcPct val="0"/>
              </a:spcBef>
              <a:spcAft>
                <a:spcPct val="15000"/>
              </a:spcAft>
            </a:pPr>
            <a:r>
              <a:rPr lang="zh-CN" altLang="en-US" sz="1600" b="1" i="0" dirty="0">
                <a:solidFill>
                  <a:srgbClr val="0070C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仅动作预测建模：</a:t>
            </a:r>
            <a:endParaRPr lang="en-US" altLang="zh-CN" sz="1600" b="1" i="0" dirty="0">
              <a:solidFill>
                <a:srgbClr val="0070C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lvl="1" indent="-285750" defTabSz="1422364">
              <a:lnSpc>
                <a:spcPct val="150000"/>
              </a:lnSpc>
              <a:spcBef>
                <a:spcPct val="0"/>
              </a:spcBef>
              <a:spcAft>
                <a:spcPct val="15000"/>
              </a:spcAft>
              <a:buFont typeface="Arial" panose="020B0604020202020204" pitchFamily="34" charset="0"/>
              <a:buChar char="•"/>
            </a:pPr>
            <a:r>
              <a:rPr lang="zh-CN" altLang="en-US" sz="1600" b="1" i="0" dirty="0">
                <a:solidFill>
                  <a:srgbClr val="24292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根据历史轨迹与当前状态预测下一时刻的动作</a:t>
            </a:r>
            <a:endParaRPr lang="en-US" altLang="zh-CN" sz="1600" b="1" i="0" dirty="0">
              <a:solidFill>
                <a:srgbClr val="24292F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lvl="1" indent="-285750" defTabSz="1422364">
              <a:lnSpc>
                <a:spcPct val="150000"/>
              </a:lnSpc>
              <a:spcBef>
                <a:spcPct val="0"/>
              </a:spcBef>
              <a:spcAft>
                <a:spcPct val="15000"/>
              </a:spcAft>
              <a:buFont typeface="Arial" panose="020B0604020202020204" pitchFamily="34" charset="0"/>
              <a:buChar char="•"/>
            </a:pPr>
            <a:r>
              <a:rPr lang="zh-CN" altLang="en-US" sz="1600" b="1" dirty="0">
                <a:solidFill>
                  <a:srgbClr val="24292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无法准确预测动作如何改变状态，从而导致适应性降低以及在未知环境中出现累积误差</a:t>
            </a:r>
            <a:endParaRPr lang="zh-CN" altLang="en-US" sz="1600" b="1" i="0" dirty="0">
              <a:solidFill>
                <a:srgbClr val="24292F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CFB65073-9225-E7F6-E72B-2D071C59181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34576" y="1812416"/>
            <a:ext cx="3748709" cy="1297451"/>
          </a:xfrm>
          <a:prstGeom prst="rect">
            <a:avLst/>
          </a:prstGeom>
        </p:spPr>
      </p:pic>
      <p:sp>
        <p:nvSpPr>
          <p:cNvPr id="5" name="矩形: 圆角 4">
            <a:extLst>
              <a:ext uri="{FF2B5EF4-FFF2-40B4-BE49-F238E27FC236}">
                <a16:creationId xmlns:a16="http://schemas.microsoft.com/office/drawing/2014/main" id="{8783ABCC-E80A-CA2F-790D-6338CC811B6A}"/>
              </a:ext>
            </a:extLst>
          </p:cNvPr>
          <p:cNvSpPr/>
          <p:nvPr/>
        </p:nvSpPr>
        <p:spPr>
          <a:xfrm>
            <a:off x="1686128" y="2294549"/>
            <a:ext cx="1076528" cy="390306"/>
          </a:xfrm>
          <a:prstGeom prst="roundRect">
            <a:avLst/>
          </a:prstGeom>
          <a:solidFill>
            <a:srgbClr val="C6D3E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矩形: 圆角 19">
            <a:extLst>
              <a:ext uri="{FF2B5EF4-FFF2-40B4-BE49-F238E27FC236}">
                <a16:creationId xmlns:a16="http://schemas.microsoft.com/office/drawing/2014/main" id="{5710EEFC-4E7A-D76E-ACCF-EA83E376DFF7}"/>
              </a:ext>
            </a:extLst>
          </p:cNvPr>
          <p:cNvSpPr/>
          <p:nvPr/>
        </p:nvSpPr>
        <p:spPr>
          <a:xfrm>
            <a:off x="3904035" y="2307364"/>
            <a:ext cx="830094" cy="343711"/>
          </a:xfrm>
          <a:prstGeom prst="roundRect">
            <a:avLst/>
          </a:prstGeom>
          <a:solidFill>
            <a:srgbClr val="C6D3E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BB6CD4D1-F9F5-F8C3-7CDD-9B9B8A418BEC}"/>
              </a:ext>
            </a:extLst>
          </p:cNvPr>
          <p:cNvSpPr/>
          <p:nvPr/>
        </p:nvSpPr>
        <p:spPr>
          <a:xfrm>
            <a:off x="7150441" y="1626428"/>
            <a:ext cx="4344410" cy="4325566"/>
          </a:xfrm>
          <a:prstGeom prst="roundRect">
            <a:avLst/>
          </a:prstGeom>
          <a:noFill/>
          <a:ln w="28575">
            <a:solidFill>
              <a:srgbClr val="7CA3C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矩形: 圆角 24">
            <a:extLst>
              <a:ext uri="{FF2B5EF4-FFF2-40B4-BE49-F238E27FC236}">
                <a16:creationId xmlns:a16="http://schemas.microsoft.com/office/drawing/2014/main" id="{26CC851A-E9BF-B3E3-E68A-46BAA9C6D2C0}"/>
              </a:ext>
            </a:extLst>
          </p:cNvPr>
          <p:cNvSpPr/>
          <p:nvPr/>
        </p:nvSpPr>
        <p:spPr>
          <a:xfrm>
            <a:off x="7999378" y="2260769"/>
            <a:ext cx="1076528" cy="390306"/>
          </a:xfrm>
          <a:prstGeom prst="roundRect">
            <a:avLst/>
          </a:prstGeom>
          <a:solidFill>
            <a:srgbClr val="C6D3E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矩形: 圆角 26">
            <a:extLst>
              <a:ext uri="{FF2B5EF4-FFF2-40B4-BE49-F238E27FC236}">
                <a16:creationId xmlns:a16="http://schemas.microsoft.com/office/drawing/2014/main" id="{6BA82500-87E4-B500-9957-9D24F973D05C}"/>
              </a:ext>
            </a:extLst>
          </p:cNvPr>
          <p:cNvSpPr/>
          <p:nvPr/>
        </p:nvSpPr>
        <p:spPr>
          <a:xfrm>
            <a:off x="10217285" y="2307364"/>
            <a:ext cx="830094" cy="343711"/>
          </a:xfrm>
          <a:prstGeom prst="roundRect">
            <a:avLst/>
          </a:prstGeom>
          <a:solidFill>
            <a:srgbClr val="C6D3E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E99FB280-F187-A03F-CBC0-8D8882BFF2DD}"/>
              </a:ext>
            </a:extLst>
          </p:cNvPr>
          <p:cNvSpPr/>
          <p:nvPr/>
        </p:nvSpPr>
        <p:spPr>
          <a:xfrm>
            <a:off x="7250824" y="3321325"/>
            <a:ext cx="4143644" cy="23387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1" defTabSz="1422364">
              <a:lnSpc>
                <a:spcPct val="150000"/>
              </a:lnSpc>
              <a:spcBef>
                <a:spcPct val="0"/>
              </a:spcBef>
              <a:spcAft>
                <a:spcPct val="15000"/>
              </a:spcAft>
            </a:pPr>
            <a:r>
              <a:rPr lang="zh-CN" altLang="en-US" sz="1600" b="1" i="0" dirty="0">
                <a:solidFill>
                  <a:srgbClr val="0070C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动作</a:t>
            </a:r>
            <a:r>
              <a:rPr lang="en-US" altLang="zh-CN" sz="1600" b="1" i="0" dirty="0">
                <a:solidFill>
                  <a:srgbClr val="0070C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1600" b="1" i="0" dirty="0">
                <a:solidFill>
                  <a:srgbClr val="0070C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状态预测建模：</a:t>
            </a:r>
            <a:endParaRPr lang="en-US" altLang="zh-CN" sz="1600" b="1" i="0" dirty="0">
              <a:solidFill>
                <a:srgbClr val="0070C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lvl="1" indent="-285750" defTabSz="1422364">
              <a:lnSpc>
                <a:spcPct val="150000"/>
              </a:lnSpc>
              <a:spcBef>
                <a:spcPct val="0"/>
              </a:spcBef>
              <a:spcAft>
                <a:spcPct val="15000"/>
              </a:spcAft>
              <a:buFont typeface="Arial" panose="020B0604020202020204" pitchFamily="34" charset="0"/>
              <a:buChar char="•"/>
            </a:pPr>
            <a:r>
              <a:rPr lang="zh-CN" altLang="en-US" sz="1600" b="1" i="0" dirty="0">
                <a:solidFill>
                  <a:srgbClr val="24292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根据历史轨迹与当前状态预测下一时刻的动作与状态</a:t>
            </a:r>
            <a:endParaRPr lang="en-US" altLang="zh-CN" sz="1600" b="1" i="0" dirty="0">
              <a:solidFill>
                <a:srgbClr val="24292F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lvl="1" indent="-285750" defTabSz="1422364">
              <a:lnSpc>
                <a:spcPct val="150000"/>
              </a:lnSpc>
              <a:spcBef>
                <a:spcPct val="0"/>
              </a:spcBef>
              <a:spcAft>
                <a:spcPct val="15000"/>
              </a:spcAft>
              <a:buFont typeface="Arial" panose="020B0604020202020204" pitchFamily="34" charset="0"/>
              <a:buChar char="•"/>
            </a:pPr>
            <a:r>
              <a:rPr lang="zh-CN" altLang="en-US" sz="1600" b="1" dirty="0">
                <a:solidFill>
                  <a:srgbClr val="24292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预测动作如何改变状态，在陌生环境里会产生巨大的预测误差，引动无人机主动探索未知环境</a:t>
            </a:r>
            <a:endParaRPr lang="zh-CN" altLang="en-US" sz="1600" b="1" i="0" dirty="0">
              <a:solidFill>
                <a:srgbClr val="24292F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3036551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90451A-D6C6-2434-C518-DECAAC602F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矩形 15">
            <a:extLst>
              <a:ext uri="{FF2B5EF4-FFF2-40B4-BE49-F238E27FC236}">
                <a16:creationId xmlns:a16="http://schemas.microsoft.com/office/drawing/2014/main" id="{86323AB8-1A8D-B62C-CB2C-5E07C6663F77}"/>
              </a:ext>
            </a:extLst>
          </p:cNvPr>
          <p:cNvSpPr/>
          <p:nvPr/>
        </p:nvSpPr>
        <p:spPr>
          <a:xfrm>
            <a:off x="0" y="155115"/>
            <a:ext cx="1655328" cy="257314"/>
          </a:xfrm>
          <a:prstGeom prst="rect">
            <a:avLst/>
          </a:prstGeom>
          <a:solidFill>
            <a:srgbClr val="6F8BB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6C70AF1D-2616-1E77-B9CD-53FC0ECCD2B2}"/>
              </a:ext>
            </a:extLst>
          </p:cNvPr>
          <p:cNvSpPr/>
          <p:nvPr/>
        </p:nvSpPr>
        <p:spPr>
          <a:xfrm>
            <a:off x="0" y="1614"/>
            <a:ext cx="12192000" cy="164287"/>
          </a:xfrm>
          <a:prstGeom prst="rect">
            <a:avLst/>
          </a:prstGeom>
          <a:solidFill>
            <a:srgbClr val="6F8BB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9094D2D8-4946-C747-8425-3E8EB14F34AB}"/>
              </a:ext>
            </a:extLst>
          </p:cNvPr>
          <p:cNvSpPr txBox="1"/>
          <p:nvPr/>
        </p:nvSpPr>
        <p:spPr>
          <a:xfrm>
            <a:off x="142816" y="65238"/>
            <a:ext cx="20955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bg1"/>
                </a:solidFill>
                <a:cs typeface="+mn-ea"/>
                <a:sym typeface="+mn-lt"/>
              </a:rPr>
              <a:t>Presentation</a:t>
            </a:r>
            <a:endParaRPr lang="zh-CN" altLang="en-US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F194F74C-5795-9F6F-92C4-61C834D6C9B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9917" y="617901"/>
            <a:ext cx="915835" cy="867277"/>
          </a:xfrm>
          <a:prstGeom prst="rect">
            <a:avLst/>
          </a:prstGeo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AD556AC7-FC4A-CB39-8B48-AE95EF375970}"/>
              </a:ext>
            </a:extLst>
          </p:cNvPr>
          <p:cNvSpPr txBox="1"/>
          <p:nvPr/>
        </p:nvSpPr>
        <p:spPr>
          <a:xfrm>
            <a:off x="600330" y="759151"/>
            <a:ext cx="37500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dirty="0">
                <a:solidFill>
                  <a:schemeClr val="accent1">
                    <a:lumMod val="75000"/>
                  </a:schemeClr>
                </a:solidFill>
                <a:cs typeface="+mn-ea"/>
                <a:sym typeface="+mn-lt"/>
              </a:rPr>
              <a:t>7</a:t>
            </a:r>
            <a:endParaRPr lang="zh-CN" altLang="en-US" sz="3200" dirty="0">
              <a:solidFill>
                <a:schemeClr val="accent1">
                  <a:lumMod val="7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F324FEB0-8782-6AEE-C94F-286CBED1A782}"/>
              </a:ext>
            </a:extLst>
          </p:cNvPr>
          <p:cNvSpPr txBox="1"/>
          <p:nvPr/>
        </p:nvSpPr>
        <p:spPr>
          <a:xfrm>
            <a:off x="1655328" y="793828"/>
            <a:ext cx="2330156" cy="583565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rgbClr val="0070C0"/>
                </a:solidFill>
                <a:cs typeface="+mn-ea"/>
                <a:sym typeface="+mn-lt"/>
              </a:rPr>
              <a:t>研究难点</a:t>
            </a:r>
            <a:endParaRPr lang="en-US" altLang="zh-CN" sz="3200" b="1" dirty="0">
              <a:solidFill>
                <a:srgbClr val="0070C0"/>
              </a:solidFill>
              <a:cs typeface="+mn-ea"/>
              <a:sym typeface="+mn-lt"/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0632644F-C1B2-B08E-C1F2-38AB3C7ED9F7}"/>
              </a:ext>
            </a:extLst>
          </p:cNvPr>
          <p:cNvSpPr/>
          <p:nvPr/>
        </p:nvSpPr>
        <p:spPr>
          <a:xfrm>
            <a:off x="0" y="6693452"/>
            <a:ext cx="12192000" cy="164287"/>
          </a:xfrm>
          <a:prstGeom prst="rect">
            <a:avLst/>
          </a:prstGeom>
          <a:solidFill>
            <a:srgbClr val="6F8BB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E3552A74-D847-94AF-D237-92D7598D3765}"/>
              </a:ext>
            </a:extLst>
          </p:cNvPr>
          <p:cNvSpPr/>
          <p:nvPr/>
        </p:nvSpPr>
        <p:spPr>
          <a:xfrm>
            <a:off x="837191" y="1626428"/>
            <a:ext cx="4344410" cy="4325566"/>
          </a:xfrm>
          <a:prstGeom prst="roundRect">
            <a:avLst/>
          </a:prstGeom>
          <a:noFill/>
          <a:ln w="28575">
            <a:solidFill>
              <a:srgbClr val="7CA3C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箭头: 右 6">
            <a:extLst>
              <a:ext uri="{FF2B5EF4-FFF2-40B4-BE49-F238E27FC236}">
                <a16:creationId xmlns:a16="http://schemas.microsoft.com/office/drawing/2014/main" id="{7BB5C347-C094-81F2-79AB-93DFF52018BF}"/>
              </a:ext>
            </a:extLst>
          </p:cNvPr>
          <p:cNvSpPr/>
          <p:nvPr/>
        </p:nvSpPr>
        <p:spPr>
          <a:xfrm>
            <a:off x="5650455" y="4348587"/>
            <a:ext cx="1031132" cy="621724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箭头: 右 12">
            <a:extLst>
              <a:ext uri="{FF2B5EF4-FFF2-40B4-BE49-F238E27FC236}">
                <a16:creationId xmlns:a16="http://schemas.microsoft.com/office/drawing/2014/main" id="{0DEAAECB-B679-C1DF-1C41-D2D9E30620D5}"/>
              </a:ext>
            </a:extLst>
          </p:cNvPr>
          <p:cNvSpPr/>
          <p:nvPr/>
        </p:nvSpPr>
        <p:spPr>
          <a:xfrm rot="10800000">
            <a:off x="5650455" y="2168357"/>
            <a:ext cx="1031132" cy="621724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EBFE8A9C-BFE1-B62A-B153-CA9967219FC8}"/>
              </a:ext>
            </a:extLst>
          </p:cNvPr>
          <p:cNvSpPr/>
          <p:nvPr/>
        </p:nvSpPr>
        <p:spPr>
          <a:xfrm>
            <a:off x="937108" y="3321325"/>
            <a:ext cx="4143644" cy="23756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1" defTabSz="1422364">
              <a:lnSpc>
                <a:spcPct val="150000"/>
              </a:lnSpc>
              <a:spcBef>
                <a:spcPct val="0"/>
              </a:spcBef>
              <a:spcAft>
                <a:spcPct val="15000"/>
              </a:spcAft>
            </a:pPr>
            <a:r>
              <a:rPr lang="zh-CN" altLang="en-US" sz="1600" b="1" i="0" dirty="0">
                <a:solidFill>
                  <a:srgbClr val="0070C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基于距离的外部奖励：</a:t>
            </a:r>
            <a:endParaRPr lang="en-US" altLang="zh-CN" sz="1600" b="1" i="0" dirty="0">
              <a:solidFill>
                <a:srgbClr val="0070C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lvl="1" indent="-285750" defTabSz="1422364">
              <a:lnSpc>
                <a:spcPct val="150000"/>
              </a:lnSpc>
              <a:spcBef>
                <a:spcPct val="0"/>
              </a:spcBef>
              <a:spcAft>
                <a:spcPct val="15000"/>
              </a:spcAft>
              <a:buFont typeface="Arial" panose="020B0604020202020204" pitchFamily="34" charset="0"/>
              <a:buChar char="•"/>
            </a:pPr>
            <a:r>
              <a:rPr lang="zh-CN" altLang="en-US" sz="1600" b="1" i="0" dirty="0">
                <a:solidFill>
                  <a:srgbClr val="24292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引导无人机准确搜索目标</a:t>
            </a:r>
            <a:endParaRPr lang="en-US" altLang="zh-CN" sz="1600" b="1" i="0" dirty="0">
              <a:solidFill>
                <a:srgbClr val="24292F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lvl="1" indent="-285750" defTabSz="1422364">
              <a:lnSpc>
                <a:spcPct val="150000"/>
              </a:lnSpc>
              <a:spcBef>
                <a:spcPct val="0"/>
              </a:spcBef>
              <a:spcAft>
                <a:spcPct val="15000"/>
              </a:spcAft>
              <a:buFont typeface="Arial" panose="020B0604020202020204" pitchFamily="34" charset="0"/>
              <a:buChar char="•"/>
            </a:pPr>
            <a:r>
              <a:rPr lang="zh-CN" altLang="en-US" sz="1600" b="1" dirty="0">
                <a:solidFill>
                  <a:srgbClr val="24292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奖励信号稀疏，只有在接近目标时产生有效增益，易进入局部最优点</a:t>
            </a:r>
            <a:endParaRPr lang="en-US" altLang="zh-CN" sz="1600" b="1" dirty="0">
              <a:solidFill>
                <a:srgbClr val="24292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lvl="1" indent="-285750" defTabSz="1422364">
              <a:lnSpc>
                <a:spcPct val="150000"/>
              </a:lnSpc>
              <a:spcBef>
                <a:spcPct val="0"/>
              </a:spcBef>
              <a:spcAft>
                <a:spcPct val="15000"/>
              </a:spcAft>
              <a:buFont typeface="Arial" panose="020B0604020202020204" pitchFamily="34" charset="0"/>
              <a:buChar char="•"/>
            </a:pPr>
            <a:r>
              <a:rPr lang="zh-CN" altLang="en-US" sz="1600" b="1" i="0" dirty="0">
                <a:solidFill>
                  <a:srgbClr val="24292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在接近目标时引导无人机准确导航到目标地点</a:t>
            </a:r>
          </a:p>
        </p:txBody>
      </p: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2B98F222-B190-AF06-38E5-A001D8FFF87F}"/>
              </a:ext>
            </a:extLst>
          </p:cNvPr>
          <p:cNvSpPr/>
          <p:nvPr/>
        </p:nvSpPr>
        <p:spPr>
          <a:xfrm>
            <a:off x="7150441" y="1626428"/>
            <a:ext cx="4344410" cy="4325566"/>
          </a:xfrm>
          <a:prstGeom prst="roundRect">
            <a:avLst/>
          </a:prstGeom>
          <a:noFill/>
          <a:ln w="28575">
            <a:solidFill>
              <a:srgbClr val="7CA3C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A8299D2B-7D57-0718-D22F-783BE07D19A2}"/>
              </a:ext>
            </a:extLst>
          </p:cNvPr>
          <p:cNvSpPr/>
          <p:nvPr/>
        </p:nvSpPr>
        <p:spPr>
          <a:xfrm>
            <a:off x="7250824" y="3321325"/>
            <a:ext cx="4143644" cy="23756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1" defTabSz="1422364">
              <a:lnSpc>
                <a:spcPct val="150000"/>
              </a:lnSpc>
              <a:spcBef>
                <a:spcPct val="0"/>
              </a:spcBef>
              <a:spcAft>
                <a:spcPct val="15000"/>
              </a:spcAft>
            </a:pPr>
            <a:r>
              <a:rPr lang="zh-CN" altLang="en-US" sz="1600" b="1" i="0" dirty="0">
                <a:solidFill>
                  <a:srgbClr val="0070C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基于预测偏差的内部奖励：</a:t>
            </a:r>
            <a:endParaRPr lang="en-US" altLang="zh-CN" sz="1600" b="1" i="0" dirty="0">
              <a:solidFill>
                <a:srgbClr val="0070C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lvl="1" indent="-285750" defTabSz="1422364">
              <a:lnSpc>
                <a:spcPct val="150000"/>
              </a:lnSpc>
              <a:spcBef>
                <a:spcPct val="0"/>
              </a:spcBef>
              <a:spcAft>
                <a:spcPct val="15000"/>
              </a:spcAft>
              <a:buFont typeface="Arial" panose="020B0604020202020204" pitchFamily="34" charset="0"/>
              <a:buChar char="•"/>
            </a:pPr>
            <a:r>
              <a:rPr lang="zh-CN" altLang="en-US" sz="1600" b="1" dirty="0">
                <a:solidFill>
                  <a:srgbClr val="24292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引导无人机主动探索未知环境</a:t>
            </a:r>
            <a:endParaRPr lang="en-US" altLang="zh-CN" sz="1600" b="1" dirty="0">
              <a:solidFill>
                <a:srgbClr val="24292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lvl="1" indent="-285750" defTabSz="1422364">
              <a:lnSpc>
                <a:spcPct val="150000"/>
              </a:lnSpc>
              <a:spcBef>
                <a:spcPct val="0"/>
              </a:spcBef>
              <a:spcAft>
                <a:spcPct val="15000"/>
              </a:spcAft>
              <a:buFont typeface="Arial" panose="020B0604020202020204" pitchFamily="34" charset="0"/>
              <a:buChar char="•"/>
            </a:pPr>
            <a:r>
              <a:rPr lang="zh-CN" altLang="en-US" sz="1600" b="1" dirty="0">
                <a:solidFill>
                  <a:srgbClr val="24292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奖励信号稠密，</a:t>
            </a:r>
            <a:r>
              <a:rPr lang="zh-CN" altLang="en-US" sz="1600" b="1" i="0" dirty="0">
                <a:solidFill>
                  <a:srgbClr val="24292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在搜索初期或者无外部激励信号时引导无人机探索未知环境</a:t>
            </a:r>
            <a:endParaRPr lang="en-US" altLang="zh-CN" sz="1600" b="1" i="0" dirty="0">
              <a:solidFill>
                <a:srgbClr val="24292F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lvl="1" indent="-285750" defTabSz="1422364">
              <a:lnSpc>
                <a:spcPct val="150000"/>
              </a:lnSpc>
              <a:spcBef>
                <a:spcPct val="0"/>
              </a:spcBef>
              <a:spcAft>
                <a:spcPct val="15000"/>
              </a:spcAft>
              <a:buFont typeface="Arial" panose="020B0604020202020204" pitchFamily="34" charset="0"/>
              <a:buChar char="•"/>
            </a:pPr>
            <a:r>
              <a:rPr lang="zh-CN" altLang="en-US" sz="1600" b="1" dirty="0">
                <a:solidFill>
                  <a:srgbClr val="24292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在接近目标时引导无人机向未知环境探索，无法准确导航到目标点</a:t>
            </a:r>
            <a:endParaRPr lang="zh-CN" altLang="en-US" sz="1600" b="1" i="0" dirty="0">
              <a:solidFill>
                <a:srgbClr val="24292F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0897E5FF-ACCB-193F-3397-C57910CFFC1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12453" y="1760658"/>
            <a:ext cx="1992953" cy="1545154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F7475E93-5730-0EBE-6C95-1175EE74205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26169" y="1800025"/>
            <a:ext cx="1992954" cy="14664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45727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5A9797-04A8-F881-053C-4F640E018B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矩形 15">
            <a:extLst>
              <a:ext uri="{FF2B5EF4-FFF2-40B4-BE49-F238E27FC236}">
                <a16:creationId xmlns:a16="http://schemas.microsoft.com/office/drawing/2014/main" id="{95D33201-6402-5C5F-7959-03D5C9339DD3}"/>
              </a:ext>
            </a:extLst>
          </p:cNvPr>
          <p:cNvSpPr/>
          <p:nvPr/>
        </p:nvSpPr>
        <p:spPr>
          <a:xfrm>
            <a:off x="0" y="155115"/>
            <a:ext cx="1655328" cy="257314"/>
          </a:xfrm>
          <a:prstGeom prst="rect">
            <a:avLst/>
          </a:prstGeom>
          <a:solidFill>
            <a:srgbClr val="6F8BB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7BDB531F-2DA0-1C61-86EE-F2A404DF94B3}"/>
              </a:ext>
            </a:extLst>
          </p:cNvPr>
          <p:cNvSpPr/>
          <p:nvPr/>
        </p:nvSpPr>
        <p:spPr>
          <a:xfrm>
            <a:off x="0" y="1614"/>
            <a:ext cx="12192000" cy="164287"/>
          </a:xfrm>
          <a:prstGeom prst="rect">
            <a:avLst/>
          </a:prstGeom>
          <a:solidFill>
            <a:srgbClr val="6F8BB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CDB44C5B-8F1A-9F23-C52F-35BD637EFD23}"/>
              </a:ext>
            </a:extLst>
          </p:cNvPr>
          <p:cNvSpPr txBox="1"/>
          <p:nvPr/>
        </p:nvSpPr>
        <p:spPr>
          <a:xfrm>
            <a:off x="142816" y="65238"/>
            <a:ext cx="20955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bg1"/>
                </a:solidFill>
                <a:cs typeface="+mn-ea"/>
                <a:sym typeface="+mn-lt"/>
              </a:rPr>
              <a:t>Presentation</a:t>
            </a:r>
            <a:endParaRPr lang="zh-CN" altLang="en-US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4D63F348-9927-4815-71BD-73CF8D31B8F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9917" y="617901"/>
            <a:ext cx="915835" cy="867277"/>
          </a:xfrm>
          <a:prstGeom prst="rect">
            <a:avLst/>
          </a:prstGeo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1F72BD7F-29A9-666A-F658-DF1095426893}"/>
              </a:ext>
            </a:extLst>
          </p:cNvPr>
          <p:cNvSpPr txBox="1"/>
          <p:nvPr/>
        </p:nvSpPr>
        <p:spPr>
          <a:xfrm>
            <a:off x="600330" y="759151"/>
            <a:ext cx="37500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dirty="0">
                <a:solidFill>
                  <a:schemeClr val="accent1">
                    <a:lumMod val="75000"/>
                  </a:schemeClr>
                </a:solidFill>
                <a:cs typeface="+mn-ea"/>
                <a:sym typeface="+mn-lt"/>
              </a:rPr>
              <a:t>8</a:t>
            </a:r>
            <a:endParaRPr lang="zh-CN" altLang="en-US" sz="3200" dirty="0">
              <a:solidFill>
                <a:schemeClr val="accent1">
                  <a:lumMod val="7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E2C24E43-DC47-0313-56D3-CD817417915C}"/>
              </a:ext>
            </a:extLst>
          </p:cNvPr>
          <p:cNvSpPr txBox="1"/>
          <p:nvPr/>
        </p:nvSpPr>
        <p:spPr>
          <a:xfrm>
            <a:off x="1655328" y="793828"/>
            <a:ext cx="2966776" cy="584775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rgbClr val="0070C0"/>
                </a:solidFill>
                <a:cs typeface="+mn-ea"/>
                <a:sym typeface="+mn-lt"/>
              </a:rPr>
              <a:t>进度安排</a:t>
            </a:r>
            <a:endParaRPr lang="en-US" altLang="zh-CN" sz="3200" b="1" dirty="0">
              <a:solidFill>
                <a:srgbClr val="0070C0"/>
              </a:solidFill>
              <a:cs typeface="+mn-ea"/>
              <a:sym typeface="+mn-lt"/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BF85D84A-DBB1-21A8-A59C-438FBBA71C75}"/>
              </a:ext>
            </a:extLst>
          </p:cNvPr>
          <p:cNvSpPr/>
          <p:nvPr/>
        </p:nvSpPr>
        <p:spPr>
          <a:xfrm>
            <a:off x="0" y="6693452"/>
            <a:ext cx="12192000" cy="164287"/>
          </a:xfrm>
          <a:prstGeom prst="rect">
            <a:avLst/>
          </a:prstGeom>
          <a:solidFill>
            <a:srgbClr val="6F8BB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1196CD91-18BA-7AC0-587F-C3051CC34EA7}"/>
              </a:ext>
            </a:extLst>
          </p:cNvPr>
          <p:cNvSpPr txBox="1"/>
          <p:nvPr/>
        </p:nvSpPr>
        <p:spPr>
          <a:xfrm>
            <a:off x="975338" y="1447651"/>
            <a:ext cx="10460925" cy="4988673"/>
          </a:xfrm>
          <a:prstGeom prst="rect">
            <a:avLst/>
          </a:prstGeom>
          <a:solidFill>
            <a:schemeClr val="lt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sz="1600" dirty="0">
                <a:latin typeface="+mn-ea"/>
              </a:rPr>
              <a:t>1. </a:t>
            </a:r>
            <a:r>
              <a:rPr lang="zh-CN" altLang="en-US" sz="1600" dirty="0">
                <a:latin typeface="+mn-ea"/>
              </a:rPr>
              <a:t>文献调研与背景知识学习（</a:t>
            </a:r>
            <a:r>
              <a:rPr lang="en-US" altLang="zh-CN" sz="1600" dirty="0">
                <a:latin typeface="+mn-ea"/>
              </a:rPr>
              <a:t>2026.1.20 - 2026.02.10</a:t>
            </a:r>
            <a:r>
              <a:rPr lang="zh-CN" altLang="en-US" sz="1600" dirty="0">
                <a:latin typeface="+mn-ea"/>
              </a:rPr>
              <a:t>）</a:t>
            </a:r>
          </a:p>
          <a:p>
            <a:pPr>
              <a:lnSpc>
                <a:spcPct val="125000"/>
              </a:lnSpc>
            </a:pPr>
            <a:r>
              <a:rPr lang="zh-CN" altLang="en-US" sz="1600" dirty="0">
                <a:latin typeface="+mn-ea"/>
              </a:rPr>
              <a:t>       学习好奇心强化学习的相关背景知识，并完成指定英文文献的翻译工作。</a:t>
            </a:r>
          </a:p>
          <a:p>
            <a:pPr>
              <a:lnSpc>
                <a:spcPct val="125000"/>
              </a:lnSpc>
            </a:pPr>
            <a:r>
              <a:rPr lang="en-US" altLang="zh-CN" sz="1600" dirty="0">
                <a:latin typeface="+mn-ea"/>
              </a:rPr>
              <a:t>2.</a:t>
            </a:r>
            <a:r>
              <a:rPr lang="zh-CN" altLang="en-US" sz="1600" dirty="0">
                <a:latin typeface="+mn-ea"/>
              </a:rPr>
              <a:t> 方案设计与开题准备（</a:t>
            </a:r>
            <a:r>
              <a:rPr lang="en-US" altLang="zh-CN" sz="1600" dirty="0">
                <a:latin typeface="+mn-ea"/>
              </a:rPr>
              <a:t>2026.02.11 - 2026.03.15</a:t>
            </a:r>
            <a:r>
              <a:rPr lang="zh-CN" altLang="en-US" sz="1600" dirty="0">
                <a:latin typeface="+mn-ea"/>
              </a:rPr>
              <a:t>）</a:t>
            </a:r>
          </a:p>
          <a:p>
            <a:pPr>
              <a:lnSpc>
                <a:spcPct val="125000"/>
              </a:lnSpc>
            </a:pPr>
            <a:r>
              <a:rPr lang="zh-CN" altLang="en-US" sz="1600" dirty="0">
                <a:latin typeface="+mn-ea"/>
              </a:rPr>
              <a:t>       开展基于动作</a:t>
            </a:r>
            <a:r>
              <a:rPr lang="en-US" altLang="zh-CN" sz="1600" dirty="0">
                <a:latin typeface="+mn-ea"/>
              </a:rPr>
              <a:t>-</a:t>
            </a:r>
            <a:r>
              <a:rPr lang="zh-CN" altLang="en-US" sz="1600" dirty="0">
                <a:latin typeface="+mn-ea"/>
              </a:rPr>
              <a:t>状态联合建模的兴趣点驱动框架研究，设计好奇心驱动的主动定位方法，完成开题报告的撰写与提交。</a:t>
            </a:r>
          </a:p>
          <a:p>
            <a:pPr>
              <a:lnSpc>
                <a:spcPct val="125000"/>
              </a:lnSpc>
            </a:pPr>
            <a:r>
              <a:rPr lang="en-US" altLang="zh-CN" sz="1600" dirty="0">
                <a:latin typeface="+mn-ea"/>
              </a:rPr>
              <a:t>3. </a:t>
            </a:r>
            <a:r>
              <a:rPr lang="zh-CN" altLang="en-US" sz="1600" dirty="0">
                <a:latin typeface="+mn-ea"/>
              </a:rPr>
              <a:t>算法实现与平台配置（</a:t>
            </a:r>
            <a:r>
              <a:rPr lang="en-US" altLang="zh-CN" sz="1600" dirty="0">
                <a:latin typeface="+mn-ea"/>
              </a:rPr>
              <a:t>2026.03.16 - 2026.04.02</a:t>
            </a:r>
            <a:r>
              <a:rPr lang="zh-CN" altLang="en-US" sz="1600" dirty="0">
                <a:latin typeface="+mn-ea"/>
              </a:rPr>
              <a:t>）</a:t>
            </a:r>
          </a:p>
          <a:p>
            <a:pPr>
              <a:lnSpc>
                <a:spcPct val="125000"/>
              </a:lnSpc>
            </a:pPr>
            <a:r>
              <a:rPr lang="zh-CN" altLang="en-US" sz="1600" dirty="0">
                <a:latin typeface="+mn-ea"/>
              </a:rPr>
              <a:t>       在仿真实验平台中实现好奇心驱动模块与导航策略算法，并完成测试场景的构建。</a:t>
            </a:r>
          </a:p>
          <a:p>
            <a:pPr>
              <a:lnSpc>
                <a:spcPct val="125000"/>
              </a:lnSpc>
            </a:pPr>
            <a:r>
              <a:rPr lang="en-US" altLang="zh-CN" sz="1600" dirty="0">
                <a:latin typeface="+mn-ea"/>
              </a:rPr>
              <a:t>4. </a:t>
            </a:r>
            <a:r>
              <a:rPr lang="zh-CN" altLang="en-US" sz="1600" dirty="0">
                <a:latin typeface="+mn-ea"/>
              </a:rPr>
              <a:t>算法实验与性能分析（</a:t>
            </a:r>
            <a:r>
              <a:rPr lang="en-US" altLang="zh-CN" sz="1600" dirty="0">
                <a:latin typeface="+mn-ea"/>
              </a:rPr>
              <a:t>2026.04.03 - 2026.04.16</a:t>
            </a:r>
            <a:r>
              <a:rPr lang="zh-CN" altLang="en-US" sz="1600" dirty="0">
                <a:latin typeface="+mn-ea"/>
              </a:rPr>
              <a:t>）</a:t>
            </a:r>
          </a:p>
          <a:p>
            <a:pPr>
              <a:lnSpc>
                <a:spcPct val="125000"/>
              </a:lnSpc>
            </a:pPr>
            <a:r>
              <a:rPr lang="zh-CN" altLang="en-US" sz="1600" dirty="0">
                <a:latin typeface="+mn-ea"/>
              </a:rPr>
              <a:t>       开展系统性的算法实验，将所提模型与现有视觉语言导航模型进行对比实验。通过调整模型参数，分析实验结果，验证好奇心机制在复杂环境中的有效性。</a:t>
            </a:r>
          </a:p>
          <a:p>
            <a:pPr>
              <a:lnSpc>
                <a:spcPct val="125000"/>
              </a:lnSpc>
            </a:pPr>
            <a:r>
              <a:rPr lang="en-US" altLang="zh-CN" sz="1600" dirty="0">
                <a:latin typeface="+mn-ea"/>
              </a:rPr>
              <a:t>5. </a:t>
            </a:r>
            <a:r>
              <a:rPr lang="zh-CN" altLang="en-US" sz="1600" dirty="0">
                <a:latin typeface="+mn-ea"/>
              </a:rPr>
              <a:t>中期检查与策略优化（</a:t>
            </a:r>
            <a:r>
              <a:rPr lang="en-US" altLang="zh-CN" sz="1600" dirty="0">
                <a:latin typeface="+mn-ea"/>
              </a:rPr>
              <a:t>2026.04.17 - 2026.05.01</a:t>
            </a:r>
            <a:r>
              <a:rPr lang="zh-CN" altLang="en-US" sz="1600" dirty="0">
                <a:latin typeface="+mn-ea"/>
              </a:rPr>
              <a:t>）</a:t>
            </a:r>
          </a:p>
          <a:p>
            <a:pPr>
              <a:lnSpc>
                <a:spcPct val="125000"/>
              </a:lnSpc>
            </a:pPr>
            <a:r>
              <a:rPr lang="zh-CN" altLang="en-US" sz="1600" dirty="0">
                <a:latin typeface="+mn-ea"/>
              </a:rPr>
              <a:t>       深入分析现有算法的优缺点及存在的技术问题，针对性地调整导航策略与模型结构。准备中期检查材料，完成模型与策略的最终调优及实验定稿。</a:t>
            </a:r>
          </a:p>
          <a:p>
            <a:pPr>
              <a:lnSpc>
                <a:spcPct val="125000"/>
              </a:lnSpc>
            </a:pPr>
            <a:r>
              <a:rPr lang="en-US" altLang="zh-CN" sz="1600" dirty="0">
                <a:latin typeface="+mn-ea"/>
              </a:rPr>
              <a:t>6. </a:t>
            </a:r>
            <a:r>
              <a:rPr lang="zh-CN" altLang="en-US" sz="1600" dirty="0">
                <a:latin typeface="+mn-ea"/>
              </a:rPr>
              <a:t>论文撰写与结题答辩（</a:t>
            </a:r>
            <a:r>
              <a:rPr lang="en-US" altLang="zh-CN" sz="1600" dirty="0">
                <a:latin typeface="+mn-ea"/>
              </a:rPr>
              <a:t>2026.05.01 - 2026.06.10</a:t>
            </a:r>
            <a:r>
              <a:rPr lang="zh-CN" altLang="en-US" sz="1600" dirty="0">
                <a:latin typeface="+mn-ea"/>
              </a:rPr>
              <a:t>）</a:t>
            </a:r>
          </a:p>
          <a:p>
            <a:pPr>
              <a:lnSpc>
                <a:spcPct val="125000"/>
              </a:lnSpc>
            </a:pPr>
            <a:r>
              <a:rPr lang="zh-CN" altLang="en-US" sz="1600" dirty="0">
                <a:latin typeface="+mn-ea"/>
              </a:rPr>
              <a:t>       整理实验数据与研究成果，撰写毕业论文初稿，并进行细致的格式调整与润色工作。完成论文定稿，准备毕业设计答辩相关材料。</a:t>
            </a:r>
          </a:p>
        </p:txBody>
      </p:sp>
    </p:spTree>
    <p:extLst>
      <p:ext uri="{BB962C8B-B14F-4D97-AF65-F5344CB8AC3E}">
        <p14:creationId xmlns:p14="http://schemas.microsoft.com/office/powerpoint/2010/main" val="168149008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/>
        </p:nvSpPr>
        <p:spPr>
          <a:xfrm>
            <a:off x="0" y="155115"/>
            <a:ext cx="1655328" cy="257314"/>
          </a:xfrm>
          <a:prstGeom prst="rect">
            <a:avLst/>
          </a:prstGeom>
          <a:solidFill>
            <a:srgbClr val="6F8BB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3009418" y="2801073"/>
            <a:ext cx="585679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5400" dirty="0">
                <a:solidFill>
                  <a:schemeClr val="accent1">
                    <a:lumMod val="75000"/>
                  </a:schemeClr>
                </a:solidFill>
                <a:cs typeface="+mn-ea"/>
                <a:sym typeface="+mn-lt"/>
              </a:rPr>
              <a:t>Thanks!</a:t>
            </a:r>
            <a:endParaRPr lang="zh-CN" altLang="en-US" sz="5400" dirty="0">
              <a:solidFill>
                <a:schemeClr val="accent1">
                  <a:lumMod val="75000"/>
                </a:schemeClr>
              </a:solidFill>
              <a:cs typeface="+mn-ea"/>
              <a:sym typeface="+mn-lt"/>
            </a:endParaRPr>
          </a:p>
        </p:txBody>
      </p:sp>
      <p:cxnSp>
        <p:nvCxnSpPr>
          <p:cNvPr id="4" name="直接连接符 3"/>
          <p:cNvCxnSpPr/>
          <p:nvPr/>
        </p:nvCxnSpPr>
        <p:spPr>
          <a:xfrm>
            <a:off x="3194613" y="3724403"/>
            <a:ext cx="3923817" cy="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7" name="矩形 6"/>
          <p:cNvSpPr/>
          <p:nvPr/>
        </p:nvSpPr>
        <p:spPr>
          <a:xfrm>
            <a:off x="0" y="6697897"/>
            <a:ext cx="12192000" cy="164287"/>
          </a:xfrm>
          <a:prstGeom prst="rect">
            <a:avLst/>
          </a:prstGeom>
          <a:solidFill>
            <a:srgbClr val="6F8BB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0" y="1614"/>
            <a:ext cx="12192000" cy="164287"/>
          </a:xfrm>
          <a:prstGeom prst="rect">
            <a:avLst/>
          </a:prstGeom>
          <a:solidFill>
            <a:srgbClr val="6F8BB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142816" y="65238"/>
            <a:ext cx="20955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bg1"/>
                </a:solidFill>
                <a:cs typeface="+mn-ea"/>
                <a:sym typeface="+mn-lt"/>
              </a:rPr>
              <a:t>Presentation</a:t>
            </a:r>
            <a:endParaRPr lang="zh-CN" altLang="en-US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265" t="9160" r="23350"/>
          <a:stretch>
            <a:fillRect/>
          </a:stretch>
        </p:blipFill>
        <p:spPr>
          <a:xfrm>
            <a:off x="8839200" y="83757"/>
            <a:ext cx="3421380" cy="6720450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OTRkNGU4MDkyYjk4OTYxOGJjMTQ3OThhYjg3ZDAxOWUifQ=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LACING_PICTURE_USER_VIEWPORT" val="{&quot;height&quot;:1890.2818897637794,&quot;width&quot;:4112.418897637795}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yafgyjid">
      <a:majorFont>
        <a:latin typeface="Times New Roman"/>
        <a:ea typeface="微软雅黑"/>
        <a:cs typeface=""/>
      </a:majorFont>
      <a:minorFont>
        <a:latin typeface="Times New Roman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/>
      <a:bodyPr wrap="square" rtlCol="0">
        <a:spAutoFit/>
      </a:bodyPr>
      <a:lstStyle>
        <a:defPPr>
          <a:defRPr lang="zh-CN" altLang="en-US" sz="1400" dirty="0"/>
        </a:defPPr>
      </a:lstStyle>
      <a:style>
        <a:lnRef idx="2">
          <a:schemeClr val="accent6"/>
        </a:lnRef>
        <a:fillRef idx="1">
          <a:schemeClr val="lt1"/>
        </a:fillRef>
        <a:effectRef idx="0">
          <a:schemeClr val="accent6"/>
        </a:effectRef>
        <a:fontRef idx="minor">
          <a:schemeClr val="dk1"/>
        </a:fontRef>
      </a: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860</TotalTime>
  <Words>901</Words>
  <Application>Microsoft Office PowerPoint</Application>
  <PresentationFormat>宽屏</PresentationFormat>
  <Paragraphs>125</Paragraphs>
  <Slides>11</Slides>
  <Notes>11</Notes>
  <HiddenSlides>0</HiddenSlides>
  <MMClips>0</MMClips>
  <ScaleCrop>false</ScaleCrop>
  <HeadingPairs>
    <vt:vector size="8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18" baseType="lpstr">
      <vt:lpstr>等线</vt:lpstr>
      <vt:lpstr>微软雅黑</vt:lpstr>
      <vt:lpstr>Arial</vt:lpstr>
      <vt:lpstr>Cambria Math</vt:lpstr>
      <vt:lpstr>Times New Roman</vt:lpstr>
      <vt:lpstr>Office 主题​​</vt:lpstr>
      <vt:lpstr>Equation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supreyurime</dc:creator>
  <cp:lastModifiedBy>c30309</cp:lastModifiedBy>
  <cp:revision>2485</cp:revision>
  <dcterms:created xsi:type="dcterms:W3CDTF">2021-07-12T00:37:00Z</dcterms:created>
  <dcterms:modified xsi:type="dcterms:W3CDTF">2026-03-09T08:21:44Z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2052-12.1.0.24657</vt:lpwstr>
  </property>
  <property fmtid="{D5CDD505-2E9C-101B-9397-08002B2CF9AE}" pid="3" name="KSORubyTemplateID">
    <vt:lpwstr>13</vt:lpwstr>
  </property>
  <property fmtid="{D5CDD505-2E9C-101B-9397-08002B2CF9AE}" pid="4" name="ICV">
    <vt:lpwstr>87BD94614DF044F9803834B980047695_13</vt:lpwstr>
  </property>
</Properties>
</file>